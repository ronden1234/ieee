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72" r:id="rId4"/>
    <p:sldId id="388" r:id="rId5"/>
    <p:sldId id="273" r:id="rId6"/>
    <p:sldId id="265" r:id="rId7"/>
    <p:sldId id="277" r:id="rId8"/>
    <p:sldId id="268" r:id="rId9"/>
    <p:sldId id="262" r:id="rId10"/>
    <p:sldId id="389" r:id="rId11"/>
    <p:sldId id="275" r:id="rId12"/>
    <p:sldId id="274" r:id="rId13"/>
    <p:sldId id="263" r:id="rId14"/>
    <p:sldId id="264" r:id="rId15"/>
    <p:sldId id="269" r:id="rId16"/>
    <p:sldId id="271" r:id="rId17"/>
    <p:sldId id="266" r:id="rId18"/>
    <p:sldId id="267" r:id="rId19"/>
    <p:sldId id="258" r:id="rId20"/>
    <p:sldId id="261" r:id="rId21"/>
  </p:sldIdLst>
  <p:sldSz cx="9144000" cy="6858000" type="screen4x3"/>
  <p:notesSz cx="6858000" cy="9144000"/>
  <p:defaultTextStyle>
    <a:defPPr>
      <a:defRPr lang="it-IT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FF"/>
    <a:srgbClr val="FF6600"/>
    <a:srgbClr val="FFFF99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55"/>
    <p:restoredTop sz="95701" autoAdjust="0"/>
  </p:normalViewPr>
  <p:slideViewPr>
    <p:cSldViewPr snapToGrid="0" snapToObjects="1">
      <p:cViewPr varScale="1">
        <p:scale>
          <a:sx n="127" d="100"/>
          <a:sy n="127" d="100"/>
        </p:scale>
        <p:origin x="1752" y="1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70E2F2-4CF0-4A61-B562-6A1C84400955}" type="datetimeFigureOut">
              <a:rPr lang="nl-NL" smtClean="0"/>
              <a:pPr/>
              <a:t>20-09-2026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F3E105-DB17-4011-B0E5-E6646681F44B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669670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F3E105-DB17-4011-B0E5-E6646681F44B}" type="slidenum">
              <a:rPr lang="nl-NL" smtClean="0"/>
              <a:pPr/>
              <a:t>18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966817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20440-D467-AA4C-ADBB-42C9AACD234E}" type="datetimeFigureOut">
              <a:rPr lang="it-IT" smtClean="0"/>
              <a:pPr/>
              <a:t>20/09/26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0E480-B979-594B-B527-4D562CACBF4F}" type="slidenum">
              <a:rPr lang="it-IT" smtClean="0"/>
              <a:pPr/>
              <a:t>‹#›</a:t>
            </a:fld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20440-D467-AA4C-ADBB-42C9AACD234E}" type="datetimeFigureOut">
              <a:rPr lang="it-IT" smtClean="0"/>
              <a:pPr/>
              <a:t>20/09/26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0E480-B979-594B-B527-4D562CACBF4F}" type="slidenum">
              <a:rPr lang="it-IT" smtClean="0"/>
              <a:pPr/>
              <a:t>‹#›</a:t>
            </a:fld>
            <a:endParaRPr lang="it-I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20440-D467-AA4C-ADBB-42C9AACD234E}" type="datetimeFigureOut">
              <a:rPr lang="it-IT" smtClean="0"/>
              <a:pPr/>
              <a:t>20/09/26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0E480-B979-594B-B527-4D562CACBF4F}" type="slidenum">
              <a:rPr lang="it-IT" smtClean="0"/>
              <a:pPr/>
              <a:t>‹#›</a:t>
            </a:fld>
            <a:endParaRPr lang="it-I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20440-D467-AA4C-ADBB-42C9AACD234E}" type="datetimeFigureOut">
              <a:rPr lang="it-IT" smtClean="0"/>
              <a:pPr/>
              <a:t>20/09/26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0E480-B979-594B-B527-4D562CACBF4F}" type="slidenum">
              <a:rPr lang="it-IT" smtClean="0"/>
              <a:pPr/>
              <a:t>‹#›</a:t>
            </a:fld>
            <a:endParaRPr lang="it-I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20440-D467-AA4C-ADBB-42C9AACD234E}" type="datetimeFigureOut">
              <a:rPr lang="it-IT" smtClean="0"/>
              <a:pPr/>
              <a:t>20/09/26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0E480-B979-594B-B527-4D562CACBF4F}" type="slidenum">
              <a:rPr lang="it-IT" smtClean="0"/>
              <a:pPr/>
              <a:t>‹#›</a:t>
            </a:fld>
            <a:endParaRPr lang="it-I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20440-D467-AA4C-ADBB-42C9AACD234E}" type="datetimeFigureOut">
              <a:rPr lang="it-IT" smtClean="0"/>
              <a:pPr/>
              <a:t>20/09/26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0E480-B979-594B-B527-4D562CACBF4F}" type="slidenum">
              <a:rPr lang="it-IT" smtClean="0"/>
              <a:pPr/>
              <a:t>‹#›</a:t>
            </a:fld>
            <a:endParaRPr lang="it-I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20440-D467-AA4C-ADBB-42C9AACD234E}" type="datetimeFigureOut">
              <a:rPr lang="it-IT" smtClean="0"/>
              <a:pPr/>
              <a:t>20/09/26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0E480-B979-594B-B527-4D562CACBF4F}" type="slidenum">
              <a:rPr lang="it-IT" smtClean="0"/>
              <a:pPr/>
              <a:t>‹#›</a:t>
            </a:fld>
            <a:endParaRPr lang="it-I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20440-D467-AA4C-ADBB-42C9AACD234E}" type="datetimeFigureOut">
              <a:rPr lang="it-IT" smtClean="0"/>
              <a:pPr/>
              <a:t>20/09/26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0E480-B979-594B-B527-4D562CACBF4F}" type="slidenum">
              <a:rPr lang="it-IT" smtClean="0"/>
              <a:pPr/>
              <a:t>‹#›</a:t>
            </a:fld>
            <a:endParaRPr lang="it-I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20440-D467-AA4C-ADBB-42C9AACD234E}" type="datetimeFigureOut">
              <a:rPr lang="it-IT" smtClean="0"/>
              <a:pPr/>
              <a:t>20/09/26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0E480-B979-594B-B527-4D562CACBF4F}" type="slidenum">
              <a:rPr lang="it-IT" smtClean="0"/>
              <a:pPr/>
              <a:t>‹#›</a:t>
            </a:fld>
            <a:endParaRPr lang="it-I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20440-D467-AA4C-ADBB-42C9AACD234E}" type="datetimeFigureOut">
              <a:rPr lang="it-IT" smtClean="0"/>
              <a:pPr/>
              <a:t>20/09/26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0E480-B979-594B-B527-4D562CACBF4F}" type="slidenum">
              <a:rPr lang="it-IT" smtClean="0"/>
              <a:pPr/>
              <a:t>‹#›</a:t>
            </a:fld>
            <a:endParaRPr lang="it-I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vertical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20440-D467-AA4C-ADBB-42C9AACD234E}" type="datetimeFigureOut">
              <a:rPr lang="it-IT" smtClean="0"/>
              <a:pPr/>
              <a:t>20/09/26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0E480-B979-594B-B527-4D562CACBF4F}" type="slidenum">
              <a:rPr lang="it-IT" smtClean="0"/>
              <a:pPr/>
              <a:t>‹#›</a:t>
            </a:fld>
            <a:endParaRPr lang="it-I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C20440-D467-AA4C-ADBB-42C9AACD234E}" type="datetimeFigureOut">
              <a:rPr lang="it-IT" smtClean="0"/>
              <a:pPr/>
              <a:t>20/09/26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00E480-B979-594B-B527-4D562CACBF4F}" type="slidenum">
              <a:rPr lang="it-IT" smtClean="0"/>
              <a:pPr/>
              <a:t>‹#›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www.youtube.com/watch?v=O3Zl5FEenTw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://speme.dimes.unical.it/" TargetMode="External"/><Relationship Id="rId3" Type="http://schemas.openxmlformats.org/officeDocument/2006/relationships/image" Target="../media/image5.jpeg"/><Relationship Id="rId7" Type="http://schemas.openxmlformats.org/officeDocument/2006/relationships/image" Target="../media/image7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plasma.deis.unical.it/index.html" TargetMode="External"/><Relationship Id="rId5" Type="http://schemas.openxmlformats.org/officeDocument/2006/relationships/image" Target="../media/image6.png"/><Relationship Id="rId10" Type="http://schemas.openxmlformats.org/officeDocument/2006/relationships/image" Target="../media/image9.png"/><Relationship Id="rId4" Type="http://schemas.openxmlformats.org/officeDocument/2006/relationships/hyperlink" Target="http://www.sensyscal.it" TargetMode="External"/><Relationship Id="rId9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://plasma.deis.unical.it/index.html" TargetMode="External"/><Relationship Id="rId3" Type="http://schemas.openxmlformats.org/officeDocument/2006/relationships/image" Target="../media/image11.jpeg"/><Relationship Id="rId7" Type="http://schemas.openxmlformats.org/officeDocument/2006/relationships/image" Target="../media/image6.png"/><Relationship Id="rId12" Type="http://schemas.openxmlformats.org/officeDocument/2006/relationships/image" Target="../media/image9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sensyscal.it" TargetMode="External"/><Relationship Id="rId11" Type="http://schemas.openxmlformats.org/officeDocument/2006/relationships/image" Target="../media/image8.jpeg"/><Relationship Id="rId5" Type="http://schemas.openxmlformats.org/officeDocument/2006/relationships/image" Target="../media/image13.jpeg"/><Relationship Id="rId10" Type="http://schemas.openxmlformats.org/officeDocument/2006/relationships/hyperlink" Target="http://speme.dimes.unical.it/" TargetMode="External"/><Relationship Id="rId4" Type="http://schemas.openxmlformats.org/officeDocument/2006/relationships/image" Target="../media/image12.jpe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eg"/><Relationship Id="rId3" Type="http://schemas.openxmlformats.org/officeDocument/2006/relationships/image" Target="../media/image14.jpeg"/><Relationship Id="rId7" Type="http://schemas.openxmlformats.org/officeDocument/2006/relationships/image" Target="../media/image18.jpeg"/><Relationship Id="rId12" Type="http://schemas.openxmlformats.org/officeDocument/2006/relationships/image" Target="../media/image23.png"/><Relationship Id="rId2" Type="http://schemas.openxmlformats.org/officeDocument/2006/relationships/hyperlink" Target="https://www.youtube.com/watch?v=5SVpvtZAqu8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2.jpe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jpeg"/><Relationship Id="rId9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://www.sensyscal.it" TargetMode="External"/><Relationship Id="rId13" Type="http://schemas.openxmlformats.org/officeDocument/2006/relationships/image" Target="../media/image8.jpeg"/><Relationship Id="rId3" Type="http://schemas.openxmlformats.org/officeDocument/2006/relationships/image" Target="../media/image25.jpeg"/><Relationship Id="rId7" Type="http://schemas.openxmlformats.org/officeDocument/2006/relationships/image" Target="../media/image29.jpeg"/><Relationship Id="rId12" Type="http://schemas.openxmlformats.org/officeDocument/2006/relationships/hyperlink" Target="http://speme.dimes.unical.it/" TargetMode="External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jpeg"/><Relationship Id="rId11" Type="http://schemas.openxmlformats.org/officeDocument/2006/relationships/image" Target="../media/image7.png"/><Relationship Id="rId5" Type="http://schemas.openxmlformats.org/officeDocument/2006/relationships/image" Target="../media/image27.jpeg"/><Relationship Id="rId10" Type="http://schemas.openxmlformats.org/officeDocument/2006/relationships/hyperlink" Target="http://plasma.deis.unical.it/index.html" TargetMode="External"/><Relationship Id="rId4" Type="http://schemas.openxmlformats.org/officeDocument/2006/relationships/image" Target="../media/image26.jpeg"/><Relationship Id="rId9" Type="http://schemas.openxmlformats.org/officeDocument/2006/relationships/image" Target="../media/image6.png"/><Relationship Id="rId1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.png"/><Relationship Id="rId7" Type="http://schemas.openxmlformats.org/officeDocument/2006/relationships/image" Target="../media/image8.jpeg"/><Relationship Id="rId2" Type="http://schemas.openxmlformats.org/officeDocument/2006/relationships/hyperlink" Target="http://www.sensyscal.it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speme.dimes.unical.it/" TargetMode="External"/><Relationship Id="rId5" Type="http://schemas.openxmlformats.org/officeDocument/2006/relationships/image" Target="../media/image7.png"/><Relationship Id="rId4" Type="http://schemas.openxmlformats.org/officeDocument/2006/relationships/hyperlink" Target="http://plasma.deis.unical.it/index.html" TargetMode="Externa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.png"/><Relationship Id="rId7" Type="http://schemas.openxmlformats.org/officeDocument/2006/relationships/image" Target="../media/image8.jpeg"/><Relationship Id="rId2" Type="http://schemas.openxmlformats.org/officeDocument/2006/relationships/hyperlink" Target="http://www.sensyscal.it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speme.dimes.unical.it/" TargetMode="External"/><Relationship Id="rId5" Type="http://schemas.openxmlformats.org/officeDocument/2006/relationships/image" Target="../media/image7.png"/><Relationship Id="rId4" Type="http://schemas.openxmlformats.org/officeDocument/2006/relationships/hyperlink" Target="http://plasma.deis.unical.it/index.html" TargetMode="Externa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://plasma.deis.unical.it/events/idcs2014/info.html" TargetMode="External"/><Relationship Id="rId13" Type="http://schemas.openxmlformats.org/officeDocument/2006/relationships/image" Target="../media/image7.png"/><Relationship Id="rId3" Type="http://schemas.openxmlformats.org/officeDocument/2006/relationships/hyperlink" Target="http://cyber-science.org/2022/" TargetMode="External"/><Relationship Id="rId7" Type="http://schemas.openxmlformats.org/officeDocument/2006/relationships/hyperlink" Target="http://2015.cscwd.org/" TargetMode="External"/><Relationship Id="rId12" Type="http://schemas.openxmlformats.org/officeDocument/2006/relationships/hyperlink" Target="http://plasma.deis.unical.it/index.html" TargetMode="External"/><Relationship Id="rId2" Type="http://schemas.openxmlformats.org/officeDocument/2006/relationships/hyperlink" Target="https://events.dimes.unical.it/ewsn2023/" TargetMode="External"/><Relationship Id="rId16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icnsc2017.dimes.unical.it/" TargetMode="External"/><Relationship Id="rId11" Type="http://schemas.openxmlformats.org/officeDocument/2006/relationships/image" Target="../media/image6.png"/><Relationship Id="rId5" Type="http://schemas.openxmlformats.org/officeDocument/2006/relationships/hyperlink" Target="http://idcs2019.uniparthenope.it/" TargetMode="External"/><Relationship Id="rId15" Type="http://schemas.openxmlformats.org/officeDocument/2006/relationships/image" Target="../media/image8.jpeg"/><Relationship Id="rId10" Type="http://schemas.openxmlformats.org/officeDocument/2006/relationships/hyperlink" Target="http://www.sensyscal.it" TargetMode="External"/><Relationship Id="rId4" Type="http://schemas.openxmlformats.org/officeDocument/2006/relationships/hyperlink" Target="http://ichms.dimes.unical.it/index.html" TargetMode="External"/><Relationship Id="rId9" Type="http://schemas.openxmlformats.org/officeDocument/2006/relationships/hyperlink" Target="http://idc2012.deis.unical.it/" TargetMode="External"/><Relationship Id="rId14" Type="http://schemas.openxmlformats.org/officeDocument/2006/relationships/hyperlink" Target="http://speme.dimes.unical.it/" TargetMode="Externa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.png"/><Relationship Id="rId7" Type="http://schemas.openxmlformats.org/officeDocument/2006/relationships/image" Target="../media/image8.jpeg"/><Relationship Id="rId2" Type="http://schemas.openxmlformats.org/officeDocument/2006/relationships/hyperlink" Target="http://www.sensyscal.it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speme.dimes.unical.it/" TargetMode="External"/><Relationship Id="rId5" Type="http://schemas.openxmlformats.org/officeDocument/2006/relationships/image" Target="../media/image7.png"/><Relationship Id="rId4" Type="http://schemas.openxmlformats.org/officeDocument/2006/relationships/hyperlink" Target="http://plasma.deis.unical.it/index.html" TargetMode="Externa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.png"/><Relationship Id="rId7" Type="http://schemas.openxmlformats.org/officeDocument/2006/relationships/image" Target="../media/image8.jpeg"/><Relationship Id="rId2" Type="http://schemas.openxmlformats.org/officeDocument/2006/relationships/hyperlink" Target="http://www.sensyscal.it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speme.dimes.unical.it/" TargetMode="External"/><Relationship Id="rId5" Type="http://schemas.openxmlformats.org/officeDocument/2006/relationships/image" Target="../media/image7.png"/><Relationship Id="rId4" Type="http://schemas.openxmlformats.org/officeDocument/2006/relationships/hyperlink" Target="http://plasma.deis.unical.it/index.html" TargetMode="Externa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.png"/><Relationship Id="rId7" Type="http://schemas.openxmlformats.org/officeDocument/2006/relationships/image" Target="../media/image8.jpeg"/><Relationship Id="rId2" Type="http://schemas.openxmlformats.org/officeDocument/2006/relationships/hyperlink" Target="http://www.sensyscal.it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speme.dimes.unical.it/" TargetMode="External"/><Relationship Id="rId5" Type="http://schemas.openxmlformats.org/officeDocument/2006/relationships/image" Target="../media/image7.png"/><Relationship Id="rId4" Type="http://schemas.openxmlformats.org/officeDocument/2006/relationships/hyperlink" Target="http://plasma.deis.unical.it/index.html" TargetMode="Externa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.png"/><Relationship Id="rId7" Type="http://schemas.openxmlformats.org/officeDocument/2006/relationships/image" Target="../media/image8.jpeg"/><Relationship Id="rId2" Type="http://schemas.openxmlformats.org/officeDocument/2006/relationships/hyperlink" Target="http://www.sensyscal.it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speme.dimes.unical.it/" TargetMode="External"/><Relationship Id="rId5" Type="http://schemas.openxmlformats.org/officeDocument/2006/relationships/image" Target="../media/image7.png"/><Relationship Id="rId4" Type="http://schemas.openxmlformats.org/officeDocument/2006/relationships/hyperlink" Target="http://plasma.deis.unical.it/index.html" TargetMode="Externa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://www.sensyscal.it" TargetMode="External"/><Relationship Id="rId13" Type="http://schemas.openxmlformats.org/officeDocument/2006/relationships/image" Target="../media/image8.jpeg"/><Relationship Id="rId3" Type="http://schemas.openxmlformats.org/officeDocument/2006/relationships/image" Target="../media/image31.jpeg"/><Relationship Id="rId7" Type="http://schemas.openxmlformats.org/officeDocument/2006/relationships/image" Target="../media/image35.jpeg"/><Relationship Id="rId12" Type="http://schemas.openxmlformats.org/officeDocument/2006/relationships/hyperlink" Target="http://speme.dimes.unical.it/" TargetMode="External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jpeg"/><Relationship Id="rId11" Type="http://schemas.openxmlformats.org/officeDocument/2006/relationships/image" Target="../media/image7.png"/><Relationship Id="rId5" Type="http://schemas.openxmlformats.org/officeDocument/2006/relationships/image" Target="../media/image33.jpeg"/><Relationship Id="rId10" Type="http://schemas.openxmlformats.org/officeDocument/2006/relationships/hyperlink" Target="http://plasma.deis.unical.it/index.html" TargetMode="External"/><Relationship Id="rId4" Type="http://schemas.openxmlformats.org/officeDocument/2006/relationships/image" Target="../media/image32.jpeg"/><Relationship Id="rId9" Type="http://schemas.openxmlformats.org/officeDocument/2006/relationships/image" Target="../media/image6.png"/><Relationship Id="rId1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hyperlink" Target="http://www.sensyscal.it" TargetMode="External"/><Relationship Id="rId7" Type="http://schemas.openxmlformats.org/officeDocument/2006/relationships/hyperlink" Target="http://speme.dimes.unical.it/" TargetMode="External"/><Relationship Id="rId2" Type="http://schemas.openxmlformats.org/officeDocument/2006/relationships/hyperlink" Target="https://lameziaairport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hyperlink" Target="http://plasma.deis.unical.it/index.html" TargetMode="Externa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://plasma.deis.unical.it/index.html" TargetMode="External"/><Relationship Id="rId3" Type="http://schemas.openxmlformats.org/officeDocument/2006/relationships/hyperlink" Target="https://www.marconihotelrende.it/" TargetMode="External"/><Relationship Id="rId7" Type="http://schemas.openxmlformats.org/officeDocument/2006/relationships/image" Target="../media/image6.png"/><Relationship Id="rId12" Type="http://schemas.openxmlformats.org/officeDocument/2006/relationships/image" Target="../media/image9.png"/><Relationship Id="rId2" Type="http://schemas.openxmlformats.org/officeDocument/2006/relationships/hyperlink" Target="https://www.hotelmajorana.com/en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sensyscal.it" TargetMode="External"/><Relationship Id="rId11" Type="http://schemas.openxmlformats.org/officeDocument/2006/relationships/image" Target="../media/image8.jpeg"/><Relationship Id="rId5" Type="http://schemas.openxmlformats.org/officeDocument/2006/relationships/hyperlink" Target="https://www.bvpresidenthotel.com/?lang=en" TargetMode="External"/><Relationship Id="rId10" Type="http://schemas.openxmlformats.org/officeDocument/2006/relationships/hyperlink" Target="http://speme.dimes.unical.it/" TargetMode="External"/><Relationship Id="rId4" Type="http://schemas.openxmlformats.org/officeDocument/2006/relationships/hyperlink" Target="https://www.grandhoteldomus.it/" TargetMode="External"/><Relationship Id="rId9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jpeg"/><Relationship Id="rId13" Type="http://schemas.openxmlformats.org/officeDocument/2006/relationships/image" Target="../media/image7.png"/><Relationship Id="rId3" Type="http://schemas.openxmlformats.org/officeDocument/2006/relationships/hyperlink" Target="http://www.castellocosenza.it/" TargetMode="External"/><Relationship Id="rId7" Type="http://schemas.openxmlformats.org/officeDocument/2006/relationships/image" Target="../media/image39.jpeg"/><Relationship Id="rId12" Type="http://schemas.openxmlformats.org/officeDocument/2006/relationships/hyperlink" Target="http://plasma.deis.unical.it/index.html" TargetMode="External"/><Relationship Id="rId2" Type="http://schemas.openxmlformats.org/officeDocument/2006/relationships/hyperlink" Target="https://it.wikipedia.org/wiki/Museo_all%27aperto_Bilotti" TargetMode="External"/><Relationship Id="rId16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jpeg"/><Relationship Id="rId11" Type="http://schemas.openxmlformats.org/officeDocument/2006/relationships/image" Target="../media/image6.png"/><Relationship Id="rId5" Type="http://schemas.openxmlformats.org/officeDocument/2006/relationships/image" Target="../media/image37.jpeg"/><Relationship Id="rId15" Type="http://schemas.openxmlformats.org/officeDocument/2006/relationships/image" Target="../media/image8.jpeg"/><Relationship Id="rId10" Type="http://schemas.openxmlformats.org/officeDocument/2006/relationships/hyperlink" Target="http://www.sensyscal.it" TargetMode="External"/><Relationship Id="rId4" Type="http://schemas.openxmlformats.org/officeDocument/2006/relationships/image" Target="../media/image36.jpeg"/><Relationship Id="rId9" Type="http://schemas.openxmlformats.org/officeDocument/2006/relationships/image" Target="../media/image41.jpeg"/><Relationship Id="rId14" Type="http://schemas.openxmlformats.org/officeDocument/2006/relationships/hyperlink" Target="http://speme.dimes.unical.it/" TargetMode="Externa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jpeg"/><Relationship Id="rId13" Type="http://schemas.openxmlformats.org/officeDocument/2006/relationships/hyperlink" Target="http://speme.dimes.unical.it/" TargetMode="External"/><Relationship Id="rId3" Type="http://schemas.openxmlformats.org/officeDocument/2006/relationships/image" Target="../media/image42.jpeg"/><Relationship Id="rId7" Type="http://schemas.openxmlformats.org/officeDocument/2006/relationships/image" Target="../media/image46.jpeg"/><Relationship Id="rId12" Type="http://schemas.openxmlformats.org/officeDocument/2006/relationships/image" Target="../media/image7.png"/><Relationship Id="rId2" Type="http://schemas.openxmlformats.org/officeDocument/2006/relationships/hyperlink" Target="http://www.italia.it/en/discover-italy/calabria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jpeg"/><Relationship Id="rId11" Type="http://schemas.openxmlformats.org/officeDocument/2006/relationships/hyperlink" Target="http://plasma.deis.unical.it/index.html" TargetMode="External"/><Relationship Id="rId5" Type="http://schemas.openxmlformats.org/officeDocument/2006/relationships/image" Target="../media/image44.jpeg"/><Relationship Id="rId15" Type="http://schemas.openxmlformats.org/officeDocument/2006/relationships/image" Target="../media/image9.png"/><Relationship Id="rId10" Type="http://schemas.openxmlformats.org/officeDocument/2006/relationships/image" Target="../media/image6.png"/><Relationship Id="rId4" Type="http://schemas.openxmlformats.org/officeDocument/2006/relationships/image" Target="../media/image43.jpeg"/><Relationship Id="rId9" Type="http://schemas.openxmlformats.org/officeDocument/2006/relationships/hyperlink" Target="http://www.sensyscal.it" TargetMode="External"/><Relationship Id="rId14" Type="http://schemas.openxmlformats.org/officeDocument/2006/relationships/image" Target="../media/image8.jpe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http://plasma.deis.unical.it/index.html" TargetMode="External"/><Relationship Id="rId3" Type="http://schemas.openxmlformats.org/officeDocument/2006/relationships/image" Target="../media/image48.png"/><Relationship Id="rId7" Type="http://schemas.openxmlformats.org/officeDocument/2006/relationships/image" Target="../media/image6.png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sensyscal.it" TargetMode="External"/><Relationship Id="rId11" Type="http://schemas.openxmlformats.org/officeDocument/2006/relationships/image" Target="../media/image8.jpeg"/><Relationship Id="rId5" Type="http://schemas.openxmlformats.org/officeDocument/2006/relationships/image" Target="../media/image50.png"/><Relationship Id="rId10" Type="http://schemas.openxmlformats.org/officeDocument/2006/relationships/hyperlink" Target="http://speme.dimes.unical.it/" TargetMode="External"/><Relationship Id="rId4" Type="http://schemas.openxmlformats.org/officeDocument/2006/relationships/image" Target="../media/image49.png"/><Relationship Id="rId9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11" Type="http://schemas.openxmlformats.org/officeDocument/2006/relationships/image" Target="../media/image60.png"/><Relationship Id="rId5" Type="http://schemas.openxmlformats.org/officeDocument/2006/relationships/image" Target="../media/image54.png"/><Relationship Id="rId10" Type="http://schemas.openxmlformats.org/officeDocument/2006/relationships/image" Target="../media/image59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-660" y="61267"/>
            <a:ext cx="4588391" cy="1470025"/>
          </a:xfrm>
        </p:spPr>
        <p:txBody>
          <a:bodyPr>
            <a:normAutofit/>
          </a:bodyPr>
          <a:lstStyle/>
          <a:p>
            <a:r>
              <a:rPr lang="it-IT" sz="3600" b="1" dirty="0"/>
              <a:t>IEEE CYB </a:t>
            </a:r>
            <a:r>
              <a:rPr lang="it-IT" sz="3600" b="1" dirty="0" err="1"/>
              <a:t>Conf</a:t>
            </a:r>
            <a:r>
              <a:rPr lang="it-IT" sz="3600" b="1" dirty="0"/>
              <a:t> 2027</a:t>
            </a:r>
            <a:br>
              <a:rPr lang="it-IT" sz="2400" b="1" dirty="0"/>
            </a:br>
            <a:r>
              <a:rPr lang="it-IT" sz="2400" b="1" dirty="0" err="1"/>
              <a:t>Proposed</a:t>
            </a:r>
            <a:r>
              <a:rPr lang="it-IT" sz="2400" b="1" dirty="0"/>
              <a:t> </a:t>
            </a:r>
            <a:r>
              <a:rPr lang="it-IT" sz="2400" b="1" dirty="0" err="1"/>
              <a:t>Dates</a:t>
            </a:r>
            <a:br>
              <a:rPr lang="it-IT" sz="2400" b="1" dirty="0"/>
            </a:br>
            <a:r>
              <a:rPr lang="it-IT" sz="2400" b="1" dirty="0"/>
              <a:t>10-13 </a:t>
            </a:r>
            <a:r>
              <a:rPr lang="it-IT" sz="2400" b="1" dirty="0" err="1"/>
              <a:t>May</a:t>
            </a:r>
            <a:r>
              <a:rPr lang="it-IT" sz="2400" b="1" dirty="0"/>
              <a:t> 2027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2068056" y="5103165"/>
            <a:ext cx="2559730" cy="1667387"/>
          </a:xfrm>
        </p:spPr>
        <p:txBody>
          <a:bodyPr>
            <a:normAutofit/>
          </a:bodyPr>
          <a:lstStyle/>
          <a:p>
            <a:r>
              <a:rPr lang="it-IT" sz="3800" b="1" dirty="0">
                <a:solidFill>
                  <a:schemeClr val="tx1"/>
                </a:solidFill>
              </a:rPr>
              <a:t>Calabria, </a:t>
            </a:r>
            <a:r>
              <a:rPr lang="it-IT" sz="3800" b="1" dirty="0" err="1">
                <a:solidFill>
                  <a:schemeClr val="tx1"/>
                </a:solidFill>
              </a:rPr>
              <a:t>Italy</a:t>
            </a:r>
            <a:r>
              <a:rPr lang="it-IT" dirty="0"/>
              <a:t> </a:t>
            </a:r>
          </a:p>
        </p:txBody>
      </p:sp>
      <p:pic>
        <p:nvPicPr>
          <p:cNvPr id="5" name="Immagine 4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8783" y="108228"/>
            <a:ext cx="4191767" cy="6749772"/>
          </a:xfrm>
          <a:prstGeom prst="rect">
            <a:avLst/>
          </a:prstGeom>
          <a:ln>
            <a:solidFill>
              <a:srgbClr val="FF0000"/>
            </a:solidFill>
            <a:prstDash val="sysDash"/>
          </a:ln>
        </p:spPr>
      </p:pic>
      <p:sp>
        <p:nvSpPr>
          <p:cNvPr id="14" name="CasellaDiTesto 13"/>
          <p:cNvSpPr txBox="1"/>
          <p:nvPr/>
        </p:nvSpPr>
        <p:spPr>
          <a:xfrm>
            <a:off x="5012395" y="2575608"/>
            <a:ext cx="9861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b="1" dirty="0">
                <a:solidFill>
                  <a:srgbClr val="FFFF99"/>
                </a:solidFill>
              </a:rPr>
              <a:t>University </a:t>
            </a:r>
          </a:p>
          <a:p>
            <a:r>
              <a:rPr lang="it-IT" sz="1400" b="1" dirty="0">
                <a:solidFill>
                  <a:srgbClr val="FFFF99"/>
                </a:solidFill>
              </a:rPr>
              <a:t>of Calabria</a:t>
            </a:r>
          </a:p>
        </p:txBody>
      </p:sp>
      <p:cxnSp>
        <p:nvCxnSpPr>
          <p:cNvPr id="19" name="Connettore 1 18"/>
          <p:cNvCxnSpPr/>
          <p:nvPr/>
        </p:nvCxnSpPr>
        <p:spPr>
          <a:xfrm>
            <a:off x="5811546" y="2861602"/>
            <a:ext cx="810232" cy="0"/>
          </a:xfrm>
          <a:prstGeom prst="line">
            <a:avLst/>
          </a:prstGeom>
          <a:ln>
            <a:solidFill>
              <a:srgbClr val="FFFF00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e 20"/>
          <p:cNvSpPr/>
          <p:nvPr/>
        </p:nvSpPr>
        <p:spPr>
          <a:xfrm>
            <a:off x="6706827" y="2360447"/>
            <a:ext cx="810232" cy="768268"/>
          </a:xfrm>
          <a:prstGeom prst="ellipse">
            <a:avLst/>
          </a:prstGeom>
          <a:noFill/>
          <a:ln w="57150" cmpd="sng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  <a:p>
            <a:pPr algn="ctr"/>
            <a:endParaRPr/>
          </a:p>
          <a:p>
            <a:pPr algn="ctr"/>
            <a:endParaRPr lang="it-IT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50" y="1526778"/>
            <a:ext cx="3120848" cy="3280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50" y="4807564"/>
            <a:ext cx="1795108" cy="2050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13947" y="769129"/>
            <a:ext cx="8229600" cy="1143000"/>
          </a:xfrm>
        </p:spPr>
        <p:txBody>
          <a:bodyPr/>
          <a:lstStyle/>
          <a:p>
            <a:r>
              <a:rPr lang="it-IT" b="1" dirty="0"/>
              <a:t>Info on </a:t>
            </a:r>
            <a:r>
              <a:rPr lang="it-IT" b="1" dirty="0" err="1"/>
              <a:t>Venue</a:t>
            </a:r>
            <a:endParaRPr lang="it-IT" b="1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0079" y="1686560"/>
            <a:ext cx="4561921" cy="5171440"/>
          </a:xfrm>
        </p:spPr>
        <p:txBody>
          <a:bodyPr>
            <a:noAutofit/>
          </a:bodyPr>
          <a:lstStyle/>
          <a:p>
            <a:r>
              <a:rPr lang="en-US" sz="1500" b="1" dirty="0"/>
              <a:t>Calabria - </a:t>
            </a:r>
            <a:r>
              <a:rPr lang="en-US" sz="1500" dirty="0"/>
              <a:t>the southern-most tip of Italy </a:t>
            </a:r>
          </a:p>
          <a:p>
            <a:r>
              <a:rPr lang="en-US" sz="1500" dirty="0"/>
              <a:t>Over 500 miles (800 km) of coastline</a:t>
            </a:r>
          </a:p>
          <a:p>
            <a:r>
              <a:rPr lang="en-US" sz="1500" dirty="0"/>
              <a:t>The main cities (provinces) of Calabria: </a:t>
            </a:r>
            <a:r>
              <a:rPr lang="en-US" sz="1500" b="1" dirty="0"/>
              <a:t>Cosenza, </a:t>
            </a:r>
            <a:r>
              <a:rPr lang="en-US" sz="1500" dirty="0"/>
              <a:t>Catanzaro, Reggio Calabria, Crotone, </a:t>
            </a:r>
            <a:r>
              <a:rPr lang="en-US" sz="1500" dirty="0" err="1"/>
              <a:t>Vibo</a:t>
            </a:r>
            <a:r>
              <a:rPr lang="en-US" sz="1500" dirty="0"/>
              <a:t> Valencia</a:t>
            </a:r>
          </a:p>
          <a:p>
            <a:r>
              <a:rPr lang="en-US" sz="1500" b="1" dirty="0"/>
              <a:t>Cosenza</a:t>
            </a:r>
            <a:r>
              <a:rPr lang="en-US" sz="1500" dirty="0"/>
              <a:t> is the city hosting the </a:t>
            </a:r>
            <a:r>
              <a:rPr lang="en-US" sz="1500" b="1" dirty="0"/>
              <a:t>University of Calabria (UNICAL)</a:t>
            </a:r>
            <a:r>
              <a:rPr lang="en-US" sz="1500" dirty="0"/>
              <a:t>, established in 1972, a large-sized university with almost 25.000 students. According to CENSIS (the most important Italian ranking system), UNICAL is now ranked n.1 among the large Italian universities.</a:t>
            </a:r>
          </a:p>
          <a:p>
            <a:r>
              <a:rPr lang="en-US" sz="1500" dirty="0"/>
              <a:t>The conference venue is at the </a:t>
            </a:r>
            <a:r>
              <a:rPr lang="en-US" sz="1500" b="1" dirty="0"/>
              <a:t>University of Calabria</a:t>
            </a:r>
            <a:r>
              <a:rPr lang="en-US" sz="1500" dirty="0"/>
              <a:t>, 50 mins far away from the International </a:t>
            </a:r>
            <a:r>
              <a:rPr lang="en-US" sz="1500" dirty="0" err="1"/>
              <a:t>Lamezia</a:t>
            </a:r>
            <a:r>
              <a:rPr lang="en-US" sz="1500" dirty="0"/>
              <a:t> Terme airport.</a:t>
            </a:r>
          </a:p>
          <a:p>
            <a:r>
              <a:rPr lang="en-US" sz="1500" dirty="0"/>
              <a:t>Calabria in the first mentioned conference periods (2</a:t>
            </a:r>
            <a:r>
              <a:rPr lang="en-US" sz="1500" baseline="30000" dirty="0"/>
              <a:t>nd</a:t>
            </a:r>
            <a:r>
              <a:rPr lang="en-US" sz="1500" dirty="0"/>
              <a:t>/3rd week of September) has a wonderful weather (average temperatures about 25-27°C) allowing to enjoy the beaches and the mountains.</a:t>
            </a:r>
          </a:p>
          <a:p>
            <a:r>
              <a:rPr lang="en-US" sz="1500" dirty="0"/>
              <a:t>Calabria was the land of Pythagoras who founded his math school in the city of </a:t>
            </a:r>
            <a:r>
              <a:rPr lang="en-US" sz="1500" dirty="0" err="1"/>
              <a:t>Kroton</a:t>
            </a:r>
            <a:r>
              <a:rPr lang="en-US" sz="1500" dirty="0"/>
              <a:t> on the </a:t>
            </a:r>
            <a:r>
              <a:rPr lang="en-US" sz="1500" dirty="0" err="1"/>
              <a:t>Jonion</a:t>
            </a:r>
            <a:r>
              <a:rPr lang="en-US" sz="1500" dirty="0"/>
              <a:t> see side more than 2000 years ago in the Magna Graecia period.</a:t>
            </a:r>
            <a:endParaRPr lang="it-IT" sz="1500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FBF02A81-47D4-F29C-9906-DF96D5A1BA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3547" y="1726709"/>
            <a:ext cx="4076813" cy="2676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Italo: un re da cui…Italia | La Voce News">
            <a:extLst>
              <a:ext uri="{FF2B5EF4-FFF2-40B4-BE49-F238E27FC236}">
                <a16:creationId xmlns:a16="http://schemas.microsoft.com/office/drawing/2014/main" id="{4AF71F0F-9F9E-C53D-D728-B106324E34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5671" y="4403090"/>
            <a:ext cx="3472564" cy="2454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BFDB3EF2-3DAF-5AD3-5E01-B229C9041F7D}"/>
              </a:ext>
            </a:extLst>
          </p:cNvPr>
          <p:cNvGrpSpPr/>
          <p:nvPr/>
        </p:nvGrpSpPr>
        <p:grpSpPr>
          <a:xfrm>
            <a:off x="10079" y="67712"/>
            <a:ext cx="9133921" cy="1152727"/>
            <a:chOff x="10079" y="67712"/>
            <a:chExt cx="9133921" cy="1152727"/>
          </a:xfrm>
        </p:grpSpPr>
        <p:pic>
          <p:nvPicPr>
            <p:cNvPr id="5" name="Immagine 4">
              <a:hlinkClick r:id="rId4"/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086600" y="67712"/>
              <a:ext cx="2057400" cy="1028700"/>
            </a:xfrm>
            <a:prstGeom prst="rect">
              <a:avLst/>
            </a:prstGeom>
          </p:spPr>
        </p:pic>
        <p:pic>
          <p:nvPicPr>
            <p:cNvPr id="7" name="Immagine 6">
              <a:hlinkClick r:id="rId6"/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240694" y="174439"/>
              <a:ext cx="838200" cy="838200"/>
            </a:xfrm>
            <a:prstGeom prst="rect">
              <a:avLst/>
            </a:prstGeom>
          </p:spPr>
        </p:pic>
        <p:sp>
          <p:nvSpPr>
            <p:cNvPr id="9" name="CasellaDiTesto 8"/>
            <p:cNvSpPr txBox="1"/>
            <p:nvPr/>
          </p:nvSpPr>
          <p:spPr>
            <a:xfrm>
              <a:off x="5088833" y="280456"/>
              <a:ext cx="25908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 b="1" dirty="0"/>
                <a:t>SPEME Lab: </a:t>
              </a:r>
              <a:r>
                <a:rPr lang="it-IT" sz="1200" b="1" dirty="0">
                  <a:hlinkClick r:id="rId8"/>
                </a:rPr>
                <a:t>http://speme.dimes.unical.it/</a:t>
              </a:r>
              <a:endParaRPr lang="it-IT" sz="1200" b="1" dirty="0"/>
            </a:p>
            <a:p>
              <a:r>
                <a:rPr lang="it-IT" sz="1200" b="1" dirty="0"/>
                <a:t> </a:t>
              </a:r>
            </a:p>
          </p:txBody>
        </p:sp>
        <p:sp>
          <p:nvSpPr>
            <p:cNvPr id="10" name="CasellaDiTesto 9"/>
            <p:cNvSpPr txBox="1"/>
            <p:nvPr/>
          </p:nvSpPr>
          <p:spPr>
            <a:xfrm>
              <a:off x="7076521" y="943440"/>
              <a:ext cx="20574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 b="1" dirty="0"/>
                <a:t>http://www.sensyscal.com</a:t>
              </a: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2C08157-550B-FAD1-D83B-765A2E375AF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79" y="204256"/>
              <a:ext cx="2356347" cy="89597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6" name="Picture 2" descr="Brand Materials - IEEE SMC">
              <a:extLst>
                <a:ext uri="{FF2B5EF4-FFF2-40B4-BE49-F238E27FC236}">
                  <a16:creationId xmlns:a16="http://schemas.microsoft.com/office/drawing/2014/main" id="{A4B4467E-084C-94E7-8846-4931764CA73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85076" y="286006"/>
              <a:ext cx="1917700" cy="5753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972600"/>
            <a:ext cx="8229600" cy="1143000"/>
          </a:xfrm>
        </p:spPr>
        <p:txBody>
          <a:bodyPr/>
          <a:lstStyle/>
          <a:p>
            <a:r>
              <a:rPr lang="it-IT" b="1" dirty="0"/>
              <a:t>University of Calabria</a:t>
            </a:r>
          </a:p>
        </p:txBody>
      </p:sp>
      <p:pic>
        <p:nvPicPr>
          <p:cNvPr id="2050" name="Picture 2" descr="All'Unical l'avvio di Tech4You, il progetto premiato dal Ministero  dell'Università e ricerca | EcodelloJonio.it">
            <a:extLst>
              <a:ext uri="{FF2B5EF4-FFF2-40B4-BE49-F238E27FC236}">
                <a16:creationId xmlns:a16="http://schemas.microsoft.com/office/drawing/2014/main" id="{81E79700-149A-19DC-19CD-F207276A02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315" y="1972140"/>
            <a:ext cx="4555405" cy="2559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Pnrr: intesa tra Comune di Cosenza e Unical per partecipare ai bandi -  SuperSud">
            <a:extLst>
              <a:ext uri="{FF2B5EF4-FFF2-40B4-BE49-F238E27FC236}">
                <a16:creationId xmlns:a16="http://schemas.microsoft.com/office/drawing/2014/main" id="{34C71D7A-E4D5-5267-85C7-FE1EDE06DE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8720" y="1972141"/>
            <a:ext cx="3852672" cy="2568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University of Calabria - Qalata.com">
            <a:extLst>
              <a:ext uri="{FF2B5EF4-FFF2-40B4-BE49-F238E27FC236}">
                <a16:creationId xmlns:a16="http://schemas.microsoft.com/office/drawing/2014/main" id="{3EA8150B-1A7E-6B54-173D-27B1B6B98C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767" y="4540589"/>
            <a:ext cx="3492500" cy="2324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Università della Calabria: European experience, Italian campus - Study  International">
            <a:extLst>
              <a:ext uri="{FF2B5EF4-FFF2-40B4-BE49-F238E27FC236}">
                <a16:creationId xmlns:a16="http://schemas.microsoft.com/office/drawing/2014/main" id="{4D9E5D5D-EB60-4322-2BDF-2E3EE39749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9390" y="4540589"/>
            <a:ext cx="3492500" cy="2324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1F34DC49-F57A-16FB-9F41-F278A833B91D}"/>
              </a:ext>
            </a:extLst>
          </p:cNvPr>
          <p:cNvGrpSpPr/>
          <p:nvPr/>
        </p:nvGrpSpPr>
        <p:grpSpPr>
          <a:xfrm>
            <a:off x="10079" y="67712"/>
            <a:ext cx="9133921" cy="1152727"/>
            <a:chOff x="10079" y="67712"/>
            <a:chExt cx="9133921" cy="1152727"/>
          </a:xfrm>
        </p:grpSpPr>
        <p:pic>
          <p:nvPicPr>
            <p:cNvPr id="4" name="Immagine 4">
              <a:hlinkClick r:id="rId6"/>
              <a:extLst>
                <a:ext uri="{FF2B5EF4-FFF2-40B4-BE49-F238E27FC236}">
                  <a16:creationId xmlns:a16="http://schemas.microsoft.com/office/drawing/2014/main" id="{B88DFBC3-D3A6-F5A3-1858-E7B311D4E84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086600" y="67712"/>
              <a:ext cx="2057400" cy="1028700"/>
            </a:xfrm>
            <a:prstGeom prst="rect">
              <a:avLst/>
            </a:prstGeom>
          </p:spPr>
        </p:pic>
        <p:pic>
          <p:nvPicPr>
            <p:cNvPr id="6" name="Immagine 6">
              <a:hlinkClick r:id="rId8"/>
              <a:extLst>
                <a:ext uri="{FF2B5EF4-FFF2-40B4-BE49-F238E27FC236}">
                  <a16:creationId xmlns:a16="http://schemas.microsoft.com/office/drawing/2014/main" id="{956C7E6D-5ADD-F294-A82A-D216D6B49A7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240694" y="174439"/>
              <a:ext cx="838200" cy="838200"/>
            </a:xfrm>
            <a:prstGeom prst="rect">
              <a:avLst/>
            </a:prstGeom>
          </p:spPr>
        </p:pic>
        <p:sp>
          <p:nvSpPr>
            <p:cNvPr id="8" name="CasellaDiTesto 8">
              <a:extLst>
                <a:ext uri="{FF2B5EF4-FFF2-40B4-BE49-F238E27FC236}">
                  <a16:creationId xmlns:a16="http://schemas.microsoft.com/office/drawing/2014/main" id="{2D8822E7-48CA-074C-4BD5-B66D5C2EBAA7}"/>
                </a:ext>
              </a:extLst>
            </p:cNvPr>
            <p:cNvSpPr txBox="1"/>
            <p:nvPr/>
          </p:nvSpPr>
          <p:spPr>
            <a:xfrm>
              <a:off x="5088833" y="280456"/>
              <a:ext cx="25908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 b="1" dirty="0"/>
                <a:t>SPEME Lab: </a:t>
              </a:r>
              <a:r>
                <a:rPr lang="it-IT" sz="1200" b="1" dirty="0">
                  <a:hlinkClick r:id="rId10"/>
                </a:rPr>
                <a:t>http://speme.dimes.unical.it/</a:t>
              </a:r>
              <a:endParaRPr lang="it-IT" sz="1200" b="1" dirty="0"/>
            </a:p>
            <a:p>
              <a:r>
                <a:rPr lang="it-IT" sz="1200" b="1" dirty="0"/>
                <a:t> </a:t>
              </a:r>
            </a:p>
          </p:txBody>
        </p:sp>
        <p:sp>
          <p:nvSpPr>
            <p:cNvPr id="11" name="CasellaDiTesto 9">
              <a:extLst>
                <a:ext uri="{FF2B5EF4-FFF2-40B4-BE49-F238E27FC236}">
                  <a16:creationId xmlns:a16="http://schemas.microsoft.com/office/drawing/2014/main" id="{E451E3C5-B063-8471-D9E5-E4D4AFC21773}"/>
                </a:ext>
              </a:extLst>
            </p:cNvPr>
            <p:cNvSpPr txBox="1"/>
            <p:nvPr/>
          </p:nvSpPr>
          <p:spPr>
            <a:xfrm>
              <a:off x="7076521" y="943440"/>
              <a:ext cx="20574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 b="1" dirty="0"/>
                <a:t>http://www.sensyscal.com</a:t>
              </a: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90BCFA51-4D9D-5DE9-5DDF-AC6B50274CD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79" y="204256"/>
              <a:ext cx="2356347" cy="89597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Picture 2" descr="Brand Materials - IEEE SMC">
              <a:extLst>
                <a:ext uri="{FF2B5EF4-FFF2-40B4-BE49-F238E27FC236}">
                  <a16:creationId xmlns:a16="http://schemas.microsoft.com/office/drawing/2014/main" id="{8E7670AD-0ADF-0C76-B043-58EFEF5403C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85076" y="286006"/>
              <a:ext cx="1917700" cy="5753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2596437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658F1-C80A-2151-8FF2-2BFF1030F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44" y="-387424"/>
            <a:ext cx="7772400" cy="1143000"/>
          </a:xfrm>
        </p:spPr>
        <p:txBody>
          <a:bodyPr/>
          <a:lstStyle/>
          <a:p>
            <a:pPr algn="l"/>
            <a:r>
              <a:rPr lang="en-IT" sz="3200" b="1" dirty="0"/>
              <a:t>U</a:t>
            </a:r>
            <a:r>
              <a:rPr lang="en-GB" sz="3200" b="1" dirty="0"/>
              <a:t>n</a:t>
            </a:r>
            <a:r>
              <a:rPr lang="en-IT" sz="3200" b="1" dirty="0"/>
              <a:t>iversity of Calabria - UNICAL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C91C4E-D995-F8F7-0FFB-909C8D4C6B7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71601" y="332656"/>
            <a:ext cx="7772400" cy="4572000"/>
          </a:xfrm>
        </p:spPr>
        <p:txBody>
          <a:bodyPr>
            <a:normAutofit/>
          </a:bodyPr>
          <a:lstStyle/>
          <a:p>
            <a:r>
              <a:rPr lang="en-GB" sz="1600" dirty="0">
                <a:hlinkClick r:id="rId2"/>
              </a:rPr>
              <a:t>www.unical.it</a:t>
            </a:r>
          </a:p>
          <a:p>
            <a:r>
              <a:rPr lang="en-GB" sz="1600" dirty="0">
                <a:hlinkClick r:id="rId2"/>
              </a:rPr>
              <a:t>https://www.youtube.com/watch?v=5SVpvtZAqu8</a:t>
            </a:r>
            <a:endParaRPr lang="en-GB" sz="1600" dirty="0"/>
          </a:p>
          <a:p>
            <a:endParaRPr lang="en-IT" sz="1800" dirty="0"/>
          </a:p>
        </p:txBody>
      </p:sp>
      <p:pic>
        <p:nvPicPr>
          <p:cNvPr id="4" name="Segnaposto immagine 27">
            <a:extLst>
              <a:ext uri="{FF2B5EF4-FFF2-40B4-BE49-F238E27FC236}">
                <a16:creationId xmlns:a16="http://schemas.microsoft.com/office/drawing/2014/main" id="{33FB3121-DFDA-B5AE-C445-870F66269FC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8980" y="3861048"/>
            <a:ext cx="4466221" cy="2895600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3D9DEAAF-97DF-143F-3746-2B3E9E84BA4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16344" y="965448"/>
            <a:ext cx="5805091" cy="2895600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AA1D18-71A9-6C67-CAC0-11F5183328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0518" y="4149080"/>
            <a:ext cx="4599994" cy="25922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D314E46-140D-A01F-9CD2-10E4DE9A18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7840" y="64642"/>
            <a:ext cx="3526160" cy="1708174"/>
          </a:xfrm>
          <a:prstGeom prst="rect">
            <a:avLst/>
          </a:prstGeom>
        </p:spPr>
      </p:pic>
      <p:pic>
        <p:nvPicPr>
          <p:cNvPr id="9" name="Segnaposto contenuto 5" descr="Parco_Rossini_veduta_aerea_3_10.06.2011.jpg">
            <a:extLst>
              <a:ext uri="{FF2B5EF4-FFF2-40B4-BE49-F238E27FC236}">
                <a16:creationId xmlns:a16="http://schemas.microsoft.com/office/drawing/2014/main" id="{2D72F7F7-8B1C-FF52-975D-10D84A297C98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25509" y="1772816"/>
            <a:ext cx="1346612" cy="1480412"/>
          </a:xfrm>
          <a:prstGeom prst="rect">
            <a:avLst/>
          </a:prstGeom>
        </p:spPr>
      </p:pic>
      <p:pic>
        <p:nvPicPr>
          <p:cNvPr id="10" name="Segnaposto contenuto 19" descr="Immagine che contiene esterni, edificio, erba, castello&#10;&#10;Descrizione generata automaticamente">
            <a:extLst>
              <a:ext uri="{FF2B5EF4-FFF2-40B4-BE49-F238E27FC236}">
                <a16:creationId xmlns:a16="http://schemas.microsoft.com/office/drawing/2014/main" id="{DA268A74-95A9-AB6E-93A9-BF404CA0EBDC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21435" y="1772816"/>
            <a:ext cx="1204074" cy="1480412"/>
          </a:xfrm>
          <a:prstGeom prst="rect">
            <a:avLst/>
          </a:prstGeom>
        </p:spPr>
      </p:pic>
      <p:pic>
        <p:nvPicPr>
          <p:cNvPr id="1026" name="Picture 2" descr="World University Rankings | Times ...">
            <a:extLst>
              <a:ext uri="{FF2B5EF4-FFF2-40B4-BE49-F238E27FC236}">
                <a16:creationId xmlns:a16="http://schemas.microsoft.com/office/drawing/2014/main" id="{F375ADBB-61DA-1D22-8586-355945B217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1435" y="3269573"/>
            <a:ext cx="1098837" cy="357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orporate Strategy">
            <a:extLst>
              <a:ext uri="{FF2B5EF4-FFF2-40B4-BE49-F238E27FC236}">
                <a16:creationId xmlns:a16="http://schemas.microsoft.com/office/drawing/2014/main" id="{CFBBB10C-70AC-D528-5DE8-11CC76A255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6661" y="3706639"/>
            <a:ext cx="1412815" cy="376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Tag &quot;Shanghai Academic Ranking of World ...">
            <a:extLst>
              <a:ext uri="{FF2B5EF4-FFF2-40B4-BE49-F238E27FC236}">
                <a16:creationId xmlns:a16="http://schemas.microsoft.com/office/drawing/2014/main" id="{57BCF62E-E2B8-3F6A-EFEC-E881975150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2421" y="3253228"/>
            <a:ext cx="1041670" cy="693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Highly Cited Researchers ...">
            <a:extLst>
              <a:ext uri="{FF2B5EF4-FFF2-40B4-BE49-F238E27FC236}">
                <a16:creationId xmlns:a16="http://schemas.microsoft.com/office/drawing/2014/main" id="{66F95045-2735-8C83-9899-65A0CD818D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1135" y="3252908"/>
            <a:ext cx="660156" cy="896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733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12774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it-IT" b="1" dirty="0"/>
              <a:t>Metropolitan Area of </a:t>
            </a:r>
            <a:r>
              <a:rPr lang="it-IT" b="1" dirty="0" err="1"/>
              <a:t>Unical</a:t>
            </a:r>
            <a:br>
              <a:rPr lang="it-IT" b="1" dirty="0"/>
            </a:br>
            <a:r>
              <a:rPr lang="it-IT" sz="3600" b="1" dirty="0"/>
              <a:t>Cosenza &amp; Rende</a:t>
            </a:r>
            <a:endParaRPr lang="it-IT" b="1" dirty="0"/>
          </a:p>
        </p:txBody>
      </p:sp>
      <p:pic>
        <p:nvPicPr>
          <p:cNvPr id="4098" name="Picture 2" descr="Comune di Cosenza | Facebook">
            <a:extLst>
              <a:ext uri="{FF2B5EF4-FFF2-40B4-BE49-F238E27FC236}">
                <a16:creationId xmlns:a16="http://schemas.microsoft.com/office/drawing/2014/main" id="{F353ED2A-0398-9B8A-E588-DDA2D484A8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44" y="2714326"/>
            <a:ext cx="3218688" cy="2006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Turismo a Cosenza nel 2022 - recensioni e consigli - Tripadvisor">
            <a:extLst>
              <a:ext uri="{FF2B5EF4-FFF2-40B4-BE49-F238E27FC236}">
                <a16:creationId xmlns:a16="http://schemas.microsoft.com/office/drawing/2014/main" id="{B8FAF912-9FC7-E7F7-DD3F-FAA20B4B50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0657" y="2714325"/>
            <a:ext cx="3025459" cy="2006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Il Duomo di Cosenza |">
            <a:extLst>
              <a:ext uri="{FF2B5EF4-FFF2-40B4-BE49-F238E27FC236}">
                <a16:creationId xmlns:a16="http://schemas.microsoft.com/office/drawing/2014/main" id="{BBEF0421-555D-BF1D-5F06-578408713E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4031" y="2714327"/>
            <a:ext cx="2712793" cy="2006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Rende - Wikipedia">
            <a:extLst>
              <a:ext uri="{FF2B5EF4-FFF2-40B4-BE49-F238E27FC236}">
                <a16:creationId xmlns:a16="http://schemas.microsoft.com/office/drawing/2014/main" id="{BE24E745-491B-085C-8D78-062542345D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4720336"/>
            <a:ext cx="2992944" cy="1865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Rende, il centro storico tra eventi ed agevolazioni fiscali per famiglie e  imprese - QuiCosenza.it">
            <a:extLst>
              <a:ext uri="{FF2B5EF4-FFF2-40B4-BE49-F238E27FC236}">
                <a16:creationId xmlns:a16="http://schemas.microsoft.com/office/drawing/2014/main" id="{975EEDA4-7013-DABC-D059-571596F14B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8288" y="4720336"/>
            <a:ext cx="2976130" cy="1865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8" name="Picture 12" descr="Rende - Wikipedia">
            <a:extLst>
              <a:ext uri="{FF2B5EF4-FFF2-40B4-BE49-F238E27FC236}">
                <a16:creationId xmlns:a16="http://schemas.microsoft.com/office/drawing/2014/main" id="{ABB36C7B-E6C6-E4AE-2D00-34CDF21587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4418" y="4720335"/>
            <a:ext cx="3039782" cy="1865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94A0DD89-2468-6CB4-A631-4D87ED72BAD1}"/>
              </a:ext>
            </a:extLst>
          </p:cNvPr>
          <p:cNvGrpSpPr/>
          <p:nvPr/>
        </p:nvGrpSpPr>
        <p:grpSpPr>
          <a:xfrm>
            <a:off x="10079" y="67712"/>
            <a:ext cx="9133921" cy="1152727"/>
            <a:chOff x="10079" y="67712"/>
            <a:chExt cx="9133921" cy="1152727"/>
          </a:xfrm>
        </p:grpSpPr>
        <p:pic>
          <p:nvPicPr>
            <p:cNvPr id="6" name="Immagine 4">
              <a:hlinkClick r:id="rId8"/>
              <a:extLst>
                <a:ext uri="{FF2B5EF4-FFF2-40B4-BE49-F238E27FC236}">
                  <a16:creationId xmlns:a16="http://schemas.microsoft.com/office/drawing/2014/main" id="{D6ECCECA-02C2-726C-7BB4-DCF51795C2A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086600" y="67712"/>
              <a:ext cx="2057400" cy="1028700"/>
            </a:xfrm>
            <a:prstGeom prst="rect">
              <a:avLst/>
            </a:prstGeom>
          </p:spPr>
        </p:pic>
        <p:pic>
          <p:nvPicPr>
            <p:cNvPr id="8" name="Immagine 6">
              <a:hlinkClick r:id="rId10"/>
              <a:extLst>
                <a:ext uri="{FF2B5EF4-FFF2-40B4-BE49-F238E27FC236}">
                  <a16:creationId xmlns:a16="http://schemas.microsoft.com/office/drawing/2014/main" id="{41F583CE-B998-C5E0-1BB7-9DA0307DD48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240694" y="174439"/>
              <a:ext cx="838200" cy="838200"/>
            </a:xfrm>
            <a:prstGeom prst="rect">
              <a:avLst/>
            </a:prstGeom>
          </p:spPr>
        </p:pic>
        <p:sp>
          <p:nvSpPr>
            <p:cNvPr id="11" name="CasellaDiTesto 8">
              <a:extLst>
                <a:ext uri="{FF2B5EF4-FFF2-40B4-BE49-F238E27FC236}">
                  <a16:creationId xmlns:a16="http://schemas.microsoft.com/office/drawing/2014/main" id="{0F3FF4DD-DA71-8709-3EE4-2A71F5833A36}"/>
                </a:ext>
              </a:extLst>
            </p:cNvPr>
            <p:cNvSpPr txBox="1"/>
            <p:nvPr/>
          </p:nvSpPr>
          <p:spPr>
            <a:xfrm>
              <a:off x="5088833" y="280456"/>
              <a:ext cx="25908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 b="1" dirty="0"/>
                <a:t>SPEME Lab: </a:t>
              </a:r>
              <a:r>
                <a:rPr lang="it-IT" sz="1200" b="1" dirty="0">
                  <a:hlinkClick r:id="rId12"/>
                </a:rPr>
                <a:t>http://speme.dimes.unical.it/</a:t>
              </a:r>
              <a:endParaRPr lang="it-IT" sz="1200" b="1" dirty="0"/>
            </a:p>
            <a:p>
              <a:r>
                <a:rPr lang="it-IT" sz="1200" b="1" dirty="0"/>
                <a:t> </a:t>
              </a:r>
            </a:p>
          </p:txBody>
        </p:sp>
        <p:sp>
          <p:nvSpPr>
            <p:cNvPr id="12" name="CasellaDiTesto 9">
              <a:extLst>
                <a:ext uri="{FF2B5EF4-FFF2-40B4-BE49-F238E27FC236}">
                  <a16:creationId xmlns:a16="http://schemas.microsoft.com/office/drawing/2014/main" id="{FA7C1908-D08B-5CB5-F328-B791F73DEA30}"/>
                </a:ext>
              </a:extLst>
            </p:cNvPr>
            <p:cNvSpPr txBox="1"/>
            <p:nvPr/>
          </p:nvSpPr>
          <p:spPr>
            <a:xfrm>
              <a:off x="7076521" y="943440"/>
              <a:ext cx="20574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 b="1" dirty="0"/>
                <a:t>http://www.sensyscal.com</a:t>
              </a: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41A2B4DD-B29B-EEF9-FCBC-64391909B2B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79" y="204256"/>
              <a:ext cx="2356347" cy="89597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Picture 2" descr="Brand Materials - IEEE SMC">
              <a:extLst>
                <a:ext uri="{FF2B5EF4-FFF2-40B4-BE49-F238E27FC236}">
                  <a16:creationId xmlns:a16="http://schemas.microsoft.com/office/drawing/2014/main" id="{6797720C-E163-D5DD-25D8-E069B68917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85076" y="286006"/>
              <a:ext cx="1917700" cy="5753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1539461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692898"/>
            <a:ext cx="8229600" cy="1143000"/>
          </a:xfrm>
        </p:spPr>
        <p:txBody>
          <a:bodyPr>
            <a:normAutofit/>
          </a:bodyPr>
          <a:lstStyle/>
          <a:p>
            <a:r>
              <a:rPr lang="en-GB" sz="4000" b="1" dirty="0"/>
              <a:t>Organizing Committee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207818" y="1604730"/>
            <a:ext cx="4364182" cy="5226339"/>
          </a:xfrm>
        </p:spPr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it-IT" sz="1200" b="1" dirty="0" err="1"/>
              <a:t>Honorary</a:t>
            </a:r>
            <a:r>
              <a:rPr lang="it-IT" sz="1200" b="1" dirty="0"/>
              <a:t> Chair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it-IT" sz="1200" dirty="0"/>
              <a:t>   </a:t>
            </a:r>
            <a:r>
              <a:rPr lang="it-IT" sz="1200" dirty="0" err="1"/>
              <a:t>Saeid</a:t>
            </a:r>
            <a:r>
              <a:rPr lang="it-IT" sz="1200" dirty="0"/>
              <a:t> </a:t>
            </a:r>
            <a:r>
              <a:rPr lang="it-IT" sz="1200" dirty="0" err="1"/>
              <a:t>Nahavandi</a:t>
            </a:r>
            <a:r>
              <a:rPr lang="it-IT" sz="1200" dirty="0"/>
              <a:t>, Swinburne University, Australia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it-IT" sz="1200" b="1" dirty="0"/>
              <a:t>General </a:t>
            </a:r>
            <a:r>
              <a:rPr lang="it-IT" sz="1200" b="1" dirty="0" err="1"/>
              <a:t>Chairs</a:t>
            </a:r>
            <a:endParaRPr lang="it-IT" sz="1200" b="1" dirty="0"/>
          </a:p>
          <a:p>
            <a:pPr marL="0" indent="0">
              <a:spcAft>
                <a:spcPts val="600"/>
              </a:spcAft>
              <a:buNone/>
            </a:pPr>
            <a:r>
              <a:rPr lang="it-IT" sz="1200" dirty="0"/>
              <a:t>   Giancarlo Fortino, University of Calabria, </a:t>
            </a:r>
            <a:r>
              <a:rPr lang="it-IT" sz="1200" dirty="0" err="1"/>
              <a:t>Italy</a:t>
            </a:r>
            <a:r>
              <a:rPr lang="it-IT" sz="1200" dirty="0"/>
              <a:t> (</a:t>
            </a:r>
            <a:r>
              <a:rPr lang="it-IT" sz="1200" i="1" dirty="0"/>
              <a:t>Executive</a:t>
            </a:r>
            <a:r>
              <a:rPr lang="it-IT" sz="1200" dirty="0"/>
              <a:t>) 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it-IT" sz="1200" dirty="0"/>
              <a:t>   Peng Shi, Adelaide University, Australia</a:t>
            </a:r>
            <a:endParaRPr lang="it-IT" sz="1200" dirty="0">
              <a:highlight>
                <a:srgbClr val="FFFF00"/>
              </a:highlight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it-IT" sz="1200" dirty="0"/>
              <a:t>   Mariagrazia </a:t>
            </a:r>
            <a:r>
              <a:rPr lang="it-IT" sz="1200" dirty="0" err="1"/>
              <a:t>Dotoli</a:t>
            </a:r>
            <a:r>
              <a:rPr lang="it-IT" sz="1200" dirty="0"/>
              <a:t>, Politecnico di Bari, </a:t>
            </a:r>
            <a:r>
              <a:rPr lang="it-IT" sz="1200" dirty="0" err="1"/>
              <a:t>Italy</a:t>
            </a:r>
            <a:endParaRPr lang="it-IT" sz="1200" dirty="0"/>
          </a:p>
          <a:p>
            <a:pPr marL="0" indent="0">
              <a:spcAft>
                <a:spcPts val="600"/>
              </a:spcAft>
              <a:buNone/>
            </a:pPr>
            <a:r>
              <a:rPr lang="it-IT" sz="1200" b="1" dirty="0"/>
              <a:t>Technical Program </a:t>
            </a:r>
            <a:r>
              <a:rPr lang="it-IT" sz="1200" b="1" dirty="0" err="1"/>
              <a:t>Chairs</a:t>
            </a:r>
            <a:endParaRPr lang="it-IT" sz="1200" b="1" dirty="0"/>
          </a:p>
          <a:p>
            <a:pPr marL="0" indent="0">
              <a:spcAft>
                <a:spcPts val="600"/>
              </a:spcAft>
              <a:buNone/>
            </a:pPr>
            <a:r>
              <a:rPr lang="it-IT" sz="1200" dirty="0"/>
              <a:t>   Giuseppe Franzè, University of Calabria, </a:t>
            </a:r>
            <a:r>
              <a:rPr lang="it-IT" sz="1200" dirty="0" err="1"/>
              <a:t>Italy</a:t>
            </a:r>
            <a:endParaRPr lang="it-IT" sz="1200" dirty="0"/>
          </a:p>
          <a:p>
            <a:pPr marL="0" indent="0">
              <a:spcAft>
                <a:spcPts val="600"/>
              </a:spcAft>
              <a:buNone/>
            </a:pPr>
            <a:r>
              <a:rPr lang="it-IT" sz="1200" dirty="0"/>
              <a:t>   </a:t>
            </a:r>
            <a:r>
              <a:rPr lang="it-IT" sz="1200" dirty="0" err="1"/>
              <a:t>Mengchu</a:t>
            </a:r>
            <a:r>
              <a:rPr lang="it-IT" sz="1200" dirty="0"/>
              <a:t> Zhou, New Jersey Institute of Technology, USA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it-IT" sz="1200" dirty="0"/>
              <a:t>   </a:t>
            </a:r>
            <a:r>
              <a:rPr lang="it-IT" sz="1200" dirty="0" err="1"/>
              <a:t>Yan</a:t>
            </a:r>
            <a:r>
              <a:rPr lang="it-IT" sz="1200" dirty="0"/>
              <a:t> Wan, University of Texas </a:t>
            </a:r>
            <a:r>
              <a:rPr lang="it-IT" sz="1200" dirty="0" err="1"/>
              <a:t>at</a:t>
            </a:r>
            <a:r>
              <a:rPr lang="it-IT" sz="1200" dirty="0"/>
              <a:t> Arlington, USA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it-IT" sz="1200" dirty="0"/>
              <a:t>   Andrea </a:t>
            </a:r>
            <a:r>
              <a:rPr lang="it-IT" sz="1200" dirty="0" err="1"/>
              <a:t>Salfinger</a:t>
            </a:r>
            <a:r>
              <a:rPr lang="it-IT" sz="1200" dirty="0"/>
              <a:t>, University of Udine, Italy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it-IT" sz="1200" dirty="0"/>
              <a:t>   </a:t>
            </a:r>
            <a:r>
              <a:rPr lang="it-IT" sz="1200" dirty="0" err="1"/>
              <a:t>Guanghui</a:t>
            </a:r>
            <a:r>
              <a:rPr lang="it-IT" sz="1200" dirty="0"/>
              <a:t> Wen, South East University, China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it-IT" sz="1200" b="1" dirty="0"/>
              <a:t>Workshop/Special Sessions </a:t>
            </a:r>
            <a:r>
              <a:rPr lang="it-IT" sz="1200" b="1" dirty="0" err="1"/>
              <a:t>Chairs</a:t>
            </a:r>
            <a:endParaRPr lang="it-IT" sz="1200" b="1" dirty="0"/>
          </a:p>
          <a:p>
            <a:pPr marL="0" indent="0">
              <a:spcAft>
                <a:spcPts val="600"/>
              </a:spcAft>
              <a:buNone/>
            </a:pPr>
            <a:r>
              <a:rPr lang="it-IT" sz="1200" dirty="0"/>
              <a:t>   </a:t>
            </a:r>
            <a:r>
              <a:rPr lang="it-IT" sz="1200" dirty="0" err="1"/>
              <a:t>Levent</a:t>
            </a:r>
            <a:r>
              <a:rPr lang="it-IT" sz="1200" dirty="0"/>
              <a:t> Kovacs, </a:t>
            </a:r>
            <a:r>
              <a:rPr lang="it-IT" sz="1200" dirty="0" err="1"/>
              <a:t>Obuda</a:t>
            </a:r>
            <a:r>
              <a:rPr lang="it-IT" sz="1200" dirty="0"/>
              <a:t> University, </a:t>
            </a:r>
            <a:r>
              <a:rPr lang="it-IT" sz="1200" dirty="0" err="1"/>
              <a:t>Hungary</a:t>
            </a:r>
            <a:endParaRPr lang="it-IT" sz="1200" dirty="0"/>
          </a:p>
          <a:p>
            <a:pPr marL="0" indent="0">
              <a:spcAft>
                <a:spcPts val="600"/>
              </a:spcAft>
              <a:buNone/>
            </a:pPr>
            <a:r>
              <a:rPr lang="it-IT" sz="1200" dirty="0"/>
              <a:t>   </a:t>
            </a:r>
            <a:r>
              <a:rPr lang="it-IT" sz="1200" dirty="0" err="1"/>
              <a:t>Soheil</a:t>
            </a:r>
            <a:r>
              <a:rPr lang="it-IT" sz="1200" dirty="0"/>
              <a:t> Sabri, University Central Florida, USA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it-IT" sz="1200" dirty="0"/>
              <a:t>   Hong Chen, Tongji University, China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it-IT" sz="1200" dirty="0"/>
              <a:t>   </a:t>
            </a:r>
            <a:r>
              <a:rPr lang="it-IT" sz="1200" dirty="0" err="1"/>
              <a:t>Hui</a:t>
            </a:r>
            <a:r>
              <a:rPr lang="it-IT" sz="1200" dirty="0"/>
              <a:t> </a:t>
            </a:r>
            <a:r>
              <a:rPr lang="it-IT" sz="1200" dirty="0" err="1"/>
              <a:t>Yu</a:t>
            </a:r>
            <a:r>
              <a:rPr lang="it-IT" sz="1200" dirty="0"/>
              <a:t>, University of Glasgow, UK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7E64C2-2C8F-C449-BFA3-919A3ED050C8}"/>
              </a:ext>
            </a:extLst>
          </p:cNvPr>
          <p:cNvSpPr/>
          <p:nvPr/>
        </p:nvSpPr>
        <p:spPr>
          <a:xfrm>
            <a:off x="4730656" y="1488068"/>
            <a:ext cx="4230464" cy="54322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it-IT" sz="1100" b="1" dirty="0" err="1"/>
              <a:t>Publicity</a:t>
            </a:r>
            <a:r>
              <a:rPr lang="it-IT" sz="1100" b="1" dirty="0"/>
              <a:t> </a:t>
            </a:r>
            <a:r>
              <a:rPr lang="it-IT" sz="1100" b="1" dirty="0" err="1"/>
              <a:t>Chairs</a:t>
            </a:r>
            <a:r>
              <a:rPr lang="it-IT" sz="1100" dirty="0"/>
              <a:t>	</a:t>
            </a:r>
          </a:p>
          <a:p>
            <a:pPr>
              <a:spcAft>
                <a:spcPts val="600"/>
              </a:spcAft>
            </a:pPr>
            <a:r>
              <a:rPr lang="it-IT" sz="1100" dirty="0"/>
              <a:t>   </a:t>
            </a:r>
            <a:r>
              <a:rPr lang="it-IT" sz="1100" dirty="0" err="1"/>
              <a:t>Plamen</a:t>
            </a:r>
            <a:r>
              <a:rPr lang="it-IT" sz="1100" dirty="0"/>
              <a:t> Angelov, Lancaster University, UK</a:t>
            </a:r>
          </a:p>
          <a:p>
            <a:pPr>
              <a:spcAft>
                <a:spcPts val="600"/>
              </a:spcAft>
            </a:pPr>
            <a:r>
              <a:rPr lang="it-IT" sz="1100" dirty="0"/>
              <a:t>   Hong </a:t>
            </a:r>
            <a:r>
              <a:rPr lang="it-IT" sz="1100" dirty="0" err="1"/>
              <a:t>Yan</a:t>
            </a:r>
            <a:r>
              <a:rPr lang="it-IT" sz="1100" dirty="0"/>
              <a:t>, City University of Hong Kong, Hong Kong</a:t>
            </a:r>
          </a:p>
          <a:p>
            <a:pPr>
              <a:spcAft>
                <a:spcPts val="600"/>
              </a:spcAft>
            </a:pPr>
            <a:r>
              <a:rPr lang="it-IT" sz="1100" dirty="0"/>
              <a:t>   </a:t>
            </a:r>
            <a:r>
              <a:rPr lang="it-IT" sz="1100" dirty="0" err="1"/>
              <a:t>Daoyi</a:t>
            </a:r>
            <a:r>
              <a:rPr lang="it-IT" sz="1100" dirty="0"/>
              <a:t> Dong, The </a:t>
            </a:r>
            <a:r>
              <a:rPr lang="it-IT" sz="1100" dirty="0" err="1"/>
              <a:t>Australian</a:t>
            </a:r>
            <a:r>
              <a:rPr lang="it-IT" sz="1100" dirty="0"/>
              <a:t> National University, Australia</a:t>
            </a:r>
          </a:p>
          <a:p>
            <a:pPr>
              <a:spcAft>
                <a:spcPts val="600"/>
              </a:spcAft>
            </a:pPr>
            <a:r>
              <a:rPr lang="it-IT" sz="1100" dirty="0"/>
              <a:t>   Ying Tang, Rowan University, USA</a:t>
            </a:r>
          </a:p>
          <a:p>
            <a:pPr>
              <a:spcAft>
                <a:spcPts val="600"/>
              </a:spcAft>
            </a:pPr>
            <a:r>
              <a:rPr lang="it-IT" sz="1100" dirty="0"/>
              <a:t>   </a:t>
            </a:r>
            <a:r>
              <a:rPr lang="it-IT" sz="1100" dirty="0" err="1"/>
              <a:t>Chunlin</a:t>
            </a:r>
            <a:r>
              <a:rPr lang="it-IT" sz="1100" dirty="0"/>
              <a:t> Chen, Nanjing University, China</a:t>
            </a:r>
          </a:p>
          <a:p>
            <a:pPr>
              <a:spcAft>
                <a:spcPts val="600"/>
              </a:spcAft>
            </a:pPr>
            <a:r>
              <a:rPr lang="it-IT" sz="1100" dirty="0"/>
              <a:t>   Enrica Tricomi, Technical University of Munich, Germany</a:t>
            </a:r>
          </a:p>
          <a:p>
            <a:pPr>
              <a:spcAft>
                <a:spcPts val="600"/>
              </a:spcAft>
            </a:pPr>
            <a:r>
              <a:rPr lang="it-IT" sz="1100" dirty="0"/>
              <a:t>   Jinjun Shan, York University, Canada</a:t>
            </a:r>
          </a:p>
          <a:p>
            <a:pPr>
              <a:spcAft>
                <a:spcPts val="600"/>
              </a:spcAft>
            </a:pPr>
            <a:r>
              <a:rPr lang="it-IT" sz="1100" b="1" dirty="0"/>
              <a:t>Industry and Sponsorship </a:t>
            </a:r>
            <a:r>
              <a:rPr lang="it-IT" sz="1100" b="1" dirty="0" err="1"/>
              <a:t>Chairs</a:t>
            </a:r>
            <a:endParaRPr lang="it-IT" sz="1100" b="1" dirty="0"/>
          </a:p>
          <a:p>
            <a:pPr>
              <a:spcAft>
                <a:spcPts val="600"/>
              </a:spcAft>
            </a:pPr>
            <a:r>
              <a:rPr lang="it-IT" sz="1100" dirty="0"/>
              <a:t>   Ming Hou, </a:t>
            </a:r>
            <a:r>
              <a:rPr lang="it-IT" sz="1100" dirty="0" err="1"/>
              <a:t>Defence</a:t>
            </a:r>
            <a:r>
              <a:rPr lang="it-IT" sz="1100" dirty="0"/>
              <a:t> </a:t>
            </a:r>
            <a:r>
              <a:rPr lang="it-IT" sz="1100" dirty="0" err="1"/>
              <a:t>Research</a:t>
            </a:r>
            <a:r>
              <a:rPr lang="it-IT" sz="1100" dirty="0"/>
              <a:t> &amp; Development Canada, Canada</a:t>
            </a:r>
          </a:p>
          <a:p>
            <a:pPr>
              <a:spcAft>
                <a:spcPts val="600"/>
              </a:spcAft>
            </a:pPr>
            <a:r>
              <a:rPr lang="it-IT" sz="1100" dirty="0"/>
              <a:t>   </a:t>
            </a:r>
            <a:r>
              <a:rPr lang="it-IT" sz="1100" dirty="0" err="1"/>
              <a:t>Qingsong</a:t>
            </a:r>
            <a:r>
              <a:rPr lang="it-IT" sz="1100" dirty="0"/>
              <a:t> Wen, Squirrel AI, USA</a:t>
            </a:r>
          </a:p>
          <a:p>
            <a:pPr>
              <a:spcAft>
                <a:spcPts val="600"/>
              </a:spcAft>
            </a:pPr>
            <a:r>
              <a:rPr lang="it-IT" sz="1100" dirty="0"/>
              <a:t>   Thomas Strasser, AIT </a:t>
            </a:r>
            <a:r>
              <a:rPr lang="it-IT" sz="1100" dirty="0" err="1"/>
              <a:t>Austrian</a:t>
            </a:r>
            <a:r>
              <a:rPr lang="it-IT" sz="1100" dirty="0"/>
              <a:t> Institute of Technology, Austria</a:t>
            </a:r>
          </a:p>
          <a:p>
            <a:pPr>
              <a:spcAft>
                <a:spcPts val="600"/>
              </a:spcAft>
            </a:pPr>
            <a:r>
              <a:rPr lang="it-IT" sz="1100" b="1" dirty="0"/>
              <a:t>Finance Chair</a:t>
            </a:r>
          </a:p>
          <a:p>
            <a:pPr>
              <a:spcAft>
                <a:spcPts val="600"/>
              </a:spcAft>
            </a:pPr>
            <a:r>
              <a:rPr lang="it-IT" sz="1100" dirty="0"/>
              <a:t>   Antonio Guerrieri, ICAR-CNR, </a:t>
            </a:r>
            <a:r>
              <a:rPr lang="it-IT" sz="1100" dirty="0" err="1"/>
              <a:t>Italy</a:t>
            </a:r>
            <a:endParaRPr lang="it-IT" sz="1100" dirty="0"/>
          </a:p>
          <a:p>
            <a:pPr>
              <a:spcAft>
                <a:spcPts val="600"/>
              </a:spcAft>
            </a:pPr>
            <a:r>
              <a:rPr lang="it-IT" sz="1100" dirty="0"/>
              <a:t>   Giuseppe D’Aniello, University of Salerno</a:t>
            </a:r>
          </a:p>
          <a:p>
            <a:pPr>
              <a:spcAft>
                <a:spcPts val="600"/>
              </a:spcAft>
            </a:pPr>
            <a:r>
              <a:rPr lang="it-IT" sz="1100" b="1" dirty="0" err="1"/>
              <a:t>Publication</a:t>
            </a:r>
            <a:r>
              <a:rPr lang="it-IT" sz="1100" b="1" dirty="0"/>
              <a:t> Chair</a:t>
            </a:r>
          </a:p>
          <a:p>
            <a:pPr>
              <a:spcAft>
                <a:spcPts val="600"/>
              </a:spcAft>
            </a:pPr>
            <a:r>
              <a:rPr lang="it-IT" sz="1100" dirty="0"/>
              <a:t>   Vincenzo Barbuto, University of Calabria, </a:t>
            </a:r>
            <a:r>
              <a:rPr lang="it-IT" sz="1100" dirty="0" err="1"/>
              <a:t>Italy</a:t>
            </a:r>
            <a:r>
              <a:rPr lang="it-IT" sz="1100" dirty="0"/>
              <a:t>.</a:t>
            </a:r>
          </a:p>
          <a:p>
            <a:pPr>
              <a:spcAft>
                <a:spcPts val="600"/>
              </a:spcAft>
            </a:pPr>
            <a:r>
              <a:rPr lang="it-IT" sz="1100" b="1" dirty="0"/>
              <a:t>Web </a:t>
            </a:r>
            <a:r>
              <a:rPr lang="it-IT" sz="1100" b="1" dirty="0" err="1"/>
              <a:t>Chairs</a:t>
            </a:r>
            <a:endParaRPr lang="it-IT" sz="1100" b="1" dirty="0"/>
          </a:p>
          <a:p>
            <a:pPr>
              <a:spcAft>
                <a:spcPts val="600"/>
              </a:spcAft>
            </a:pPr>
            <a:r>
              <a:rPr lang="it-IT" sz="1100" dirty="0"/>
              <a:t>   Pasquale Rubino, University of Calabria, Italy</a:t>
            </a:r>
          </a:p>
          <a:p>
            <a:pPr>
              <a:spcAft>
                <a:spcPts val="600"/>
              </a:spcAft>
            </a:pPr>
            <a:r>
              <a:rPr lang="it-IT" sz="1100" b="1" dirty="0"/>
              <a:t>Local </a:t>
            </a:r>
            <a:r>
              <a:rPr lang="it-IT" sz="1100" b="1" dirty="0" err="1"/>
              <a:t>Arrangements</a:t>
            </a:r>
            <a:r>
              <a:rPr lang="it-IT" sz="1100" b="1" dirty="0"/>
              <a:t> </a:t>
            </a:r>
            <a:r>
              <a:rPr lang="it-IT" sz="1100" b="1" dirty="0" err="1"/>
              <a:t>Chairs</a:t>
            </a:r>
            <a:endParaRPr lang="it-IT" sz="1100" b="1" dirty="0"/>
          </a:p>
          <a:p>
            <a:pPr>
              <a:spcAft>
                <a:spcPts val="600"/>
              </a:spcAft>
            </a:pPr>
            <a:r>
              <a:rPr lang="it-IT" sz="1100" dirty="0"/>
              <a:t>   Francesco Tedesco, Univ. of Calabria, Italy. </a:t>
            </a:r>
          </a:p>
          <a:p>
            <a:pPr>
              <a:spcAft>
                <a:spcPts val="600"/>
              </a:spcAft>
            </a:pPr>
            <a:r>
              <a:rPr lang="it-IT" sz="1100" dirty="0"/>
              <a:t>   Fabrizio Mangione, Univ. </a:t>
            </a:r>
            <a:r>
              <a:rPr lang="it-IT" sz="1100"/>
              <a:t>of Calabria, Italy. 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E7E7B50-FAE8-5DA4-1A2F-0BCADAFB4693}"/>
              </a:ext>
            </a:extLst>
          </p:cNvPr>
          <p:cNvGrpSpPr/>
          <p:nvPr/>
        </p:nvGrpSpPr>
        <p:grpSpPr>
          <a:xfrm>
            <a:off x="10079" y="67712"/>
            <a:ext cx="9133921" cy="1152727"/>
            <a:chOff x="10079" y="67712"/>
            <a:chExt cx="9133921" cy="1152727"/>
          </a:xfrm>
        </p:grpSpPr>
        <p:pic>
          <p:nvPicPr>
            <p:cNvPr id="8" name="Immagine 4">
              <a:hlinkClick r:id="rId2"/>
              <a:extLst>
                <a:ext uri="{FF2B5EF4-FFF2-40B4-BE49-F238E27FC236}">
                  <a16:creationId xmlns:a16="http://schemas.microsoft.com/office/drawing/2014/main" id="{3640B53E-2B84-B5B1-D99A-D644287119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86600" y="67712"/>
              <a:ext cx="2057400" cy="1028700"/>
            </a:xfrm>
            <a:prstGeom prst="rect">
              <a:avLst/>
            </a:prstGeom>
          </p:spPr>
        </p:pic>
        <p:pic>
          <p:nvPicPr>
            <p:cNvPr id="9" name="Immagine 6">
              <a:hlinkClick r:id="rId4"/>
              <a:extLst>
                <a:ext uri="{FF2B5EF4-FFF2-40B4-BE49-F238E27FC236}">
                  <a16:creationId xmlns:a16="http://schemas.microsoft.com/office/drawing/2014/main" id="{3D065913-C02B-5C32-BAEB-3F87C599C4C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240694" y="174439"/>
              <a:ext cx="838200" cy="838200"/>
            </a:xfrm>
            <a:prstGeom prst="rect">
              <a:avLst/>
            </a:prstGeom>
          </p:spPr>
        </p:pic>
        <p:sp>
          <p:nvSpPr>
            <p:cNvPr id="12" name="CasellaDiTesto 8">
              <a:extLst>
                <a:ext uri="{FF2B5EF4-FFF2-40B4-BE49-F238E27FC236}">
                  <a16:creationId xmlns:a16="http://schemas.microsoft.com/office/drawing/2014/main" id="{96F50F6B-D9ED-DB9D-2D68-75BCC36FEDFA}"/>
                </a:ext>
              </a:extLst>
            </p:cNvPr>
            <p:cNvSpPr txBox="1"/>
            <p:nvPr/>
          </p:nvSpPr>
          <p:spPr>
            <a:xfrm>
              <a:off x="5088833" y="280456"/>
              <a:ext cx="25908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 b="1" dirty="0"/>
                <a:t>SPEME Lab: </a:t>
              </a:r>
              <a:r>
                <a:rPr lang="it-IT" sz="1200" b="1" dirty="0">
                  <a:hlinkClick r:id="rId6"/>
                </a:rPr>
                <a:t>http://speme.dimes.unical.it/</a:t>
              </a:r>
              <a:endParaRPr lang="it-IT" sz="1200" b="1" dirty="0"/>
            </a:p>
            <a:p>
              <a:r>
                <a:rPr lang="it-IT" sz="1200" b="1" dirty="0"/>
                <a:t> </a:t>
              </a:r>
            </a:p>
          </p:txBody>
        </p:sp>
        <p:sp>
          <p:nvSpPr>
            <p:cNvPr id="13" name="CasellaDiTesto 9">
              <a:extLst>
                <a:ext uri="{FF2B5EF4-FFF2-40B4-BE49-F238E27FC236}">
                  <a16:creationId xmlns:a16="http://schemas.microsoft.com/office/drawing/2014/main" id="{F3E0BE9F-AFA2-C6C9-609E-E9A9633F2189}"/>
                </a:ext>
              </a:extLst>
            </p:cNvPr>
            <p:cNvSpPr txBox="1"/>
            <p:nvPr/>
          </p:nvSpPr>
          <p:spPr>
            <a:xfrm>
              <a:off x="7076521" y="943440"/>
              <a:ext cx="20574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 b="1" dirty="0"/>
                <a:t>http://www.sensyscal.com</a:t>
              </a: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6A0C9A08-2620-4EF4-5187-093C9175DF4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79" y="204256"/>
              <a:ext cx="2356347" cy="89597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" name="Picture 2" descr="Brand Materials - IEEE SMC">
              <a:extLst>
                <a:ext uri="{FF2B5EF4-FFF2-40B4-BE49-F238E27FC236}">
                  <a16:creationId xmlns:a16="http://schemas.microsoft.com/office/drawing/2014/main" id="{BA9EA46C-73C8-3B17-90C5-F4A0AC641A3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85076" y="286006"/>
              <a:ext cx="1917700" cy="5753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871800"/>
            <a:ext cx="8229600" cy="1143000"/>
          </a:xfrm>
        </p:spPr>
        <p:txBody>
          <a:bodyPr/>
          <a:lstStyle/>
          <a:p>
            <a:r>
              <a:rPr lang="en-GB" b="1" dirty="0"/>
              <a:t>TPC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883967"/>
            <a:ext cx="8070574" cy="4655982"/>
          </a:xfrm>
        </p:spPr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it-IT" sz="1800" dirty="0"/>
              <a:t>The TPC </a:t>
            </a:r>
            <a:r>
              <a:rPr lang="it-IT" sz="1800" dirty="0" err="1"/>
              <a:t>members</a:t>
            </a:r>
            <a:r>
              <a:rPr lang="it-IT" sz="1800" dirty="0"/>
              <a:t> </a:t>
            </a:r>
            <a:r>
              <a:rPr lang="it-IT" sz="1800" dirty="0" err="1"/>
              <a:t>will</a:t>
            </a:r>
            <a:r>
              <a:rPr lang="it-IT" sz="1800" dirty="0"/>
              <a:t> be </a:t>
            </a:r>
            <a:r>
              <a:rPr lang="it-IT" sz="1800" dirty="0" err="1"/>
              <a:t>well</a:t>
            </a:r>
            <a:r>
              <a:rPr lang="it-IT" sz="1800" dirty="0"/>
              <a:t>-know </a:t>
            </a:r>
            <a:r>
              <a:rPr lang="it-IT" sz="1800" dirty="0" err="1"/>
              <a:t>researchers</a:t>
            </a:r>
            <a:r>
              <a:rPr lang="it-IT" sz="1800" dirty="0"/>
              <a:t>/</a:t>
            </a:r>
            <a:r>
              <a:rPr lang="it-IT" sz="1800" dirty="0" err="1"/>
              <a:t>experts</a:t>
            </a:r>
            <a:r>
              <a:rPr lang="it-IT" sz="1800" dirty="0"/>
              <a:t> </a:t>
            </a:r>
            <a:r>
              <a:rPr lang="it-IT" sz="1800" dirty="0" err="1"/>
              <a:t>being</a:t>
            </a:r>
            <a:r>
              <a:rPr lang="it-IT" sz="1800" dirty="0"/>
              <a:t> from Academia and Industry and coming from </a:t>
            </a:r>
            <a:r>
              <a:rPr lang="it-IT" sz="1800" dirty="0" err="1"/>
              <a:t>all</a:t>
            </a:r>
            <a:r>
              <a:rPr lang="it-IT" sz="1800" dirty="0"/>
              <a:t> </a:t>
            </a:r>
            <a:r>
              <a:rPr lang="it-IT" sz="1800" dirty="0" err="1"/>
              <a:t>areas</a:t>
            </a:r>
            <a:r>
              <a:rPr lang="it-IT" sz="1800" dirty="0"/>
              <a:t> of the world (America, Europe, Africa, Middle-East, Asia, Australia, etc.) </a:t>
            </a:r>
            <a:r>
              <a:rPr lang="it-IT" sz="1800" dirty="0" err="1"/>
              <a:t>actively</a:t>
            </a:r>
            <a:r>
              <a:rPr lang="it-IT" sz="1800" dirty="0"/>
              <a:t> working on the </a:t>
            </a:r>
            <a:r>
              <a:rPr lang="it-IT" sz="1800" dirty="0" err="1"/>
              <a:t>topics</a:t>
            </a:r>
            <a:r>
              <a:rPr lang="it-IT" sz="1800" dirty="0"/>
              <a:t> of the </a:t>
            </a:r>
            <a:r>
              <a:rPr lang="it-IT" sz="1800" dirty="0" err="1"/>
              <a:t>CYBConf</a:t>
            </a:r>
            <a:r>
              <a:rPr lang="it-IT" sz="1800" dirty="0"/>
              <a:t> conference.</a:t>
            </a:r>
          </a:p>
          <a:p>
            <a:pPr marL="0" indent="0">
              <a:spcAft>
                <a:spcPts val="600"/>
              </a:spcAft>
              <a:buNone/>
            </a:pPr>
            <a:endParaRPr lang="it-IT" sz="1800" dirty="0"/>
          </a:p>
          <a:p>
            <a:pPr marL="0" indent="0">
              <a:spcAft>
                <a:spcPts val="600"/>
              </a:spcAft>
              <a:buNone/>
            </a:pPr>
            <a:r>
              <a:rPr lang="it-IT" sz="1800" dirty="0" err="1"/>
              <a:t>We</a:t>
            </a:r>
            <a:r>
              <a:rPr lang="it-IT" sz="1800" dirty="0"/>
              <a:t> </a:t>
            </a:r>
            <a:r>
              <a:rPr lang="it-IT" sz="1800" dirty="0" err="1"/>
              <a:t>aim</a:t>
            </a:r>
            <a:r>
              <a:rPr lang="it-IT" sz="1800" dirty="0"/>
              <a:t> to </a:t>
            </a:r>
            <a:r>
              <a:rPr lang="it-IT" sz="1800" dirty="0" err="1"/>
              <a:t>have</a:t>
            </a:r>
            <a:r>
              <a:rPr lang="it-IT" sz="1800" dirty="0"/>
              <a:t> </a:t>
            </a:r>
            <a:r>
              <a:rPr lang="it-IT" sz="1800" dirty="0" err="1"/>
              <a:t>at</a:t>
            </a:r>
            <a:r>
              <a:rPr lang="it-IT" sz="1800" dirty="0"/>
              <a:t> </a:t>
            </a:r>
            <a:r>
              <a:rPr lang="it-IT" sz="1800" dirty="0" err="1"/>
              <a:t>least</a:t>
            </a:r>
            <a:r>
              <a:rPr lang="it-IT" sz="1800" dirty="0"/>
              <a:t> 100 </a:t>
            </a:r>
            <a:r>
              <a:rPr lang="it-IT" sz="1800" dirty="0" err="1"/>
              <a:t>members</a:t>
            </a:r>
            <a:r>
              <a:rPr lang="it-IT" sz="1800" dirty="0"/>
              <a:t> to </a:t>
            </a:r>
            <a:r>
              <a:rPr lang="it-IT" sz="1800" dirty="0" err="1"/>
              <a:t>effectively</a:t>
            </a:r>
            <a:r>
              <a:rPr lang="it-IT" sz="1800" dirty="0"/>
              <a:t> and </a:t>
            </a:r>
            <a:r>
              <a:rPr lang="it-IT" sz="1800" dirty="0" err="1"/>
              <a:t>efficiently</a:t>
            </a:r>
            <a:r>
              <a:rPr lang="it-IT" sz="1800" dirty="0"/>
              <a:t> support the review </a:t>
            </a:r>
            <a:r>
              <a:rPr lang="it-IT" sz="1800" dirty="0" err="1"/>
              <a:t>phase</a:t>
            </a:r>
            <a:r>
              <a:rPr lang="it-IT" sz="1800" dirty="0"/>
              <a:t>.</a:t>
            </a:r>
          </a:p>
          <a:p>
            <a:pPr marL="0" indent="0">
              <a:spcAft>
                <a:spcPts val="600"/>
              </a:spcAft>
              <a:buNone/>
            </a:pPr>
            <a:endParaRPr lang="it-IT" sz="1800" dirty="0"/>
          </a:p>
          <a:p>
            <a:pPr marL="0" indent="0">
              <a:spcAft>
                <a:spcPts val="600"/>
              </a:spcAft>
              <a:buNone/>
            </a:pPr>
            <a:r>
              <a:rPr lang="it-IT" sz="1800" dirty="0"/>
              <a:t>The TPC </a:t>
            </a:r>
            <a:r>
              <a:rPr lang="it-IT" sz="1800" dirty="0" err="1"/>
              <a:t>will</a:t>
            </a:r>
            <a:r>
              <a:rPr lang="it-IT" sz="1800" dirty="0"/>
              <a:t> be </a:t>
            </a:r>
            <a:r>
              <a:rPr lang="it-IT" sz="1800" dirty="0" err="1"/>
              <a:t>formed</a:t>
            </a:r>
            <a:r>
              <a:rPr lang="it-IT" sz="1800" dirty="0"/>
              <a:t> </a:t>
            </a:r>
            <a:r>
              <a:rPr lang="it-IT" sz="1800" dirty="0" err="1"/>
              <a:t>later</a:t>
            </a:r>
            <a:r>
              <a:rPr lang="it-IT" sz="1800" dirty="0"/>
              <a:t> and </a:t>
            </a:r>
            <a:r>
              <a:rPr lang="it-IT" sz="1800" dirty="0" err="1"/>
              <a:t>will</a:t>
            </a:r>
            <a:r>
              <a:rPr lang="it-IT" sz="1800" dirty="0"/>
              <a:t> be </a:t>
            </a:r>
            <a:r>
              <a:rPr lang="it-IT" sz="1800" dirty="0" err="1"/>
              <a:t>mainly</a:t>
            </a:r>
            <a:r>
              <a:rPr lang="it-IT" sz="1800" dirty="0"/>
              <a:t> </a:t>
            </a:r>
            <a:r>
              <a:rPr lang="it-IT" sz="1800" dirty="0" err="1"/>
              <a:t>based</a:t>
            </a:r>
            <a:r>
              <a:rPr lang="it-IT" sz="1800" dirty="0"/>
              <a:t> on the </a:t>
            </a:r>
            <a:r>
              <a:rPr lang="it-IT" sz="1800" dirty="0" err="1"/>
              <a:t>TCs</a:t>
            </a:r>
            <a:r>
              <a:rPr lang="it-IT" sz="1800" dirty="0"/>
              <a:t> of the </a:t>
            </a:r>
            <a:r>
              <a:rPr lang="it-IT" sz="1800" dirty="0" err="1"/>
              <a:t>Cybernetics</a:t>
            </a:r>
            <a:r>
              <a:rPr lang="it-IT" sz="1800" dirty="0"/>
              <a:t> area of IEEE SMCS and the </a:t>
            </a:r>
            <a:r>
              <a:rPr lang="it-IT" sz="1800" dirty="0" err="1"/>
              <a:t>Editorial</a:t>
            </a:r>
            <a:r>
              <a:rPr lang="it-IT" sz="1800" dirty="0"/>
              <a:t> Board of IEEE T. </a:t>
            </a:r>
            <a:r>
              <a:rPr lang="it-IT" sz="1800" dirty="0" err="1"/>
              <a:t>Cynernetics</a:t>
            </a:r>
            <a:endParaRPr lang="it-IT" sz="18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E6D5613-1289-91DA-BA72-E942DC13CB02}"/>
              </a:ext>
            </a:extLst>
          </p:cNvPr>
          <p:cNvGrpSpPr/>
          <p:nvPr/>
        </p:nvGrpSpPr>
        <p:grpSpPr>
          <a:xfrm>
            <a:off x="10079" y="67712"/>
            <a:ext cx="9133921" cy="1152727"/>
            <a:chOff x="10079" y="67712"/>
            <a:chExt cx="9133921" cy="1152727"/>
          </a:xfrm>
        </p:grpSpPr>
        <p:pic>
          <p:nvPicPr>
            <p:cNvPr id="6" name="Immagine 4">
              <a:hlinkClick r:id="rId2"/>
              <a:extLst>
                <a:ext uri="{FF2B5EF4-FFF2-40B4-BE49-F238E27FC236}">
                  <a16:creationId xmlns:a16="http://schemas.microsoft.com/office/drawing/2014/main" id="{03A7150F-2E75-4A0A-F5D8-D73FFE4434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86600" y="67712"/>
              <a:ext cx="2057400" cy="1028700"/>
            </a:xfrm>
            <a:prstGeom prst="rect">
              <a:avLst/>
            </a:prstGeom>
          </p:spPr>
        </p:pic>
        <p:pic>
          <p:nvPicPr>
            <p:cNvPr id="8" name="Immagine 6">
              <a:hlinkClick r:id="rId4"/>
              <a:extLst>
                <a:ext uri="{FF2B5EF4-FFF2-40B4-BE49-F238E27FC236}">
                  <a16:creationId xmlns:a16="http://schemas.microsoft.com/office/drawing/2014/main" id="{649FCA0C-1F8E-8A24-4AA1-89DD9ECA937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240694" y="174439"/>
              <a:ext cx="838200" cy="838200"/>
            </a:xfrm>
            <a:prstGeom prst="rect">
              <a:avLst/>
            </a:prstGeom>
          </p:spPr>
        </p:pic>
        <p:sp>
          <p:nvSpPr>
            <p:cNvPr id="9" name="CasellaDiTesto 8">
              <a:extLst>
                <a:ext uri="{FF2B5EF4-FFF2-40B4-BE49-F238E27FC236}">
                  <a16:creationId xmlns:a16="http://schemas.microsoft.com/office/drawing/2014/main" id="{76A219EA-0CC1-DB7B-8C1D-7F20040C9393}"/>
                </a:ext>
              </a:extLst>
            </p:cNvPr>
            <p:cNvSpPr txBox="1"/>
            <p:nvPr/>
          </p:nvSpPr>
          <p:spPr>
            <a:xfrm>
              <a:off x="5088833" y="280456"/>
              <a:ext cx="25908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 b="1" dirty="0"/>
                <a:t>SPEME Lab: </a:t>
              </a:r>
              <a:r>
                <a:rPr lang="it-IT" sz="1200" b="1" dirty="0">
                  <a:hlinkClick r:id="rId6"/>
                </a:rPr>
                <a:t>http://speme.dimes.unical.it/</a:t>
              </a:r>
              <a:endParaRPr lang="it-IT" sz="1200" b="1" dirty="0"/>
            </a:p>
            <a:p>
              <a:r>
                <a:rPr lang="it-IT" sz="1200" b="1" dirty="0"/>
                <a:t> </a:t>
              </a:r>
            </a:p>
          </p:txBody>
        </p:sp>
        <p:sp>
          <p:nvSpPr>
            <p:cNvPr id="12" name="CasellaDiTesto 9">
              <a:extLst>
                <a:ext uri="{FF2B5EF4-FFF2-40B4-BE49-F238E27FC236}">
                  <a16:creationId xmlns:a16="http://schemas.microsoft.com/office/drawing/2014/main" id="{436C081F-D6D9-A637-D257-2D576C942129}"/>
                </a:ext>
              </a:extLst>
            </p:cNvPr>
            <p:cNvSpPr txBox="1"/>
            <p:nvPr/>
          </p:nvSpPr>
          <p:spPr>
            <a:xfrm>
              <a:off x="7076521" y="943440"/>
              <a:ext cx="20574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 b="1" dirty="0"/>
                <a:t>http://www.sensyscal.com</a:t>
              </a: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21101C46-7890-EBB8-CE8E-29F214CF56B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79" y="204256"/>
              <a:ext cx="2356347" cy="89597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Picture 2" descr="Brand Materials - IEEE SMC">
              <a:extLst>
                <a:ext uri="{FF2B5EF4-FFF2-40B4-BE49-F238E27FC236}">
                  <a16:creationId xmlns:a16="http://schemas.microsoft.com/office/drawing/2014/main" id="{E476F833-F4B1-F3D4-2906-166AB526CE8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85076" y="286006"/>
              <a:ext cx="1917700" cy="5753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21812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1178379"/>
            <a:ext cx="8229600" cy="1143000"/>
          </a:xfrm>
        </p:spPr>
        <p:txBody>
          <a:bodyPr>
            <a:noAutofit/>
          </a:bodyPr>
          <a:lstStyle/>
          <a:p>
            <a:r>
              <a:rPr lang="en-GB" sz="3200" b="1" dirty="0"/>
              <a:t>Links to other conferences organized by prof. </a:t>
            </a:r>
            <a:r>
              <a:rPr lang="en-GB" sz="3200" b="1" dirty="0" err="1"/>
              <a:t>Fortino’s</a:t>
            </a:r>
            <a:r>
              <a:rPr lang="en-GB" sz="3200" b="1" dirty="0"/>
              <a:t> team/s in Calabria and Italy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47121" y="2061611"/>
            <a:ext cx="7384914" cy="4814609"/>
          </a:xfrm>
        </p:spPr>
        <p:txBody>
          <a:bodyPr>
            <a:normAutofit fontScale="55000" lnSpcReduction="20000"/>
          </a:bodyPr>
          <a:lstStyle/>
          <a:p>
            <a:pPr>
              <a:spcAft>
                <a:spcPts val="600"/>
              </a:spcAft>
            </a:pPr>
            <a:endParaRPr lang="it-IT" sz="2200" dirty="0"/>
          </a:p>
          <a:p>
            <a:pPr>
              <a:spcAft>
                <a:spcPts val="600"/>
              </a:spcAft>
            </a:pPr>
            <a:r>
              <a:rPr lang="it-IT" sz="2200" dirty="0"/>
              <a:t>IEEE SMC 2028 – Rome, </a:t>
            </a:r>
            <a:r>
              <a:rPr lang="it-IT" sz="2200" dirty="0" err="1"/>
              <a:t>Oct</a:t>
            </a:r>
            <a:r>
              <a:rPr lang="it-IT" sz="2200" dirty="0"/>
              <a:t>. 1-4, 2028 - </a:t>
            </a:r>
            <a:r>
              <a:rPr lang="it-IT" sz="2200" dirty="0" err="1"/>
              <a:t>expected</a:t>
            </a:r>
            <a:r>
              <a:rPr lang="it-IT" sz="2200" dirty="0"/>
              <a:t> </a:t>
            </a:r>
            <a:r>
              <a:rPr lang="it-IT" sz="2200" dirty="0" err="1"/>
              <a:t>around</a:t>
            </a:r>
            <a:r>
              <a:rPr lang="it-IT" sz="2200" dirty="0"/>
              <a:t> 1000 </a:t>
            </a:r>
            <a:r>
              <a:rPr lang="it-IT" sz="2200" dirty="0" err="1"/>
              <a:t>attendees</a:t>
            </a:r>
            <a:r>
              <a:rPr lang="it-IT" sz="2200" dirty="0"/>
              <a:t>!!!</a:t>
            </a:r>
          </a:p>
          <a:p>
            <a:pPr>
              <a:spcAft>
                <a:spcPts val="600"/>
              </a:spcAft>
            </a:pPr>
            <a:r>
              <a:rPr lang="it-IT" sz="2200" dirty="0"/>
              <a:t>IEEE SWC 2026 – Calabria, Sep. 7-11, 2026 - </a:t>
            </a:r>
            <a:r>
              <a:rPr lang="it-IT" sz="2200" dirty="0" err="1"/>
              <a:t>expected</a:t>
            </a:r>
            <a:r>
              <a:rPr lang="it-IT" sz="2200" dirty="0"/>
              <a:t> </a:t>
            </a:r>
            <a:r>
              <a:rPr lang="it-IT" sz="2200" dirty="0" err="1"/>
              <a:t>aroung</a:t>
            </a:r>
            <a:r>
              <a:rPr lang="it-IT" sz="2200" dirty="0"/>
              <a:t> 450 </a:t>
            </a:r>
            <a:r>
              <a:rPr lang="it-IT" sz="2200" dirty="0" err="1"/>
              <a:t>attendees</a:t>
            </a:r>
            <a:r>
              <a:rPr lang="it-IT" sz="2200" dirty="0"/>
              <a:t>!!!</a:t>
            </a:r>
          </a:p>
          <a:p>
            <a:pPr>
              <a:spcAft>
                <a:spcPts val="600"/>
              </a:spcAft>
            </a:pPr>
            <a:r>
              <a:rPr lang="it-IT" sz="2200" dirty="0"/>
              <a:t>EWSN 2023 (Calabria) (120 </a:t>
            </a:r>
            <a:r>
              <a:rPr lang="it-IT" sz="2200" dirty="0" err="1"/>
              <a:t>attendees</a:t>
            </a:r>
            <a:r>
              <a:rPr lang="it-IT" sz="2200" dirty="0"/>
              <a:t>)</a:t>
            </a:r>
          </a:p>
          <a:p>
            <a:pPr lvl="1">
              <a:spcAft>
                <a:spcPts val="600"/>
              </a:spcAft>
            </a:pPr>
            <a:r>
              <a:rPr lang="it-IT" sz="1800" dirty="0">
                <a:hlinkClick r:id="rId2"/>
              </a:rPr>
              <a:t>https://events.dimes.unical.it/ewsn2023/</a:t>
            </a:r>
            <a:r>
              <a:rPr lang="it-IT" sz="1800" dirty="0"/>
              <a:t>	</a:t>
            </a:r>
          </a:p>
          <a:p>
            <a:pPr>
              <a:spcAft>
                <a:spcPts val="600"/>
              </a:spcAft>
            </a:pPr>
            <a:r>
              <a:rPr lang="it-IT" sz="2200" dirty="0"/>
              <a:t>IEEE </a:t>
            </a:r>
            <a:r>
              <a:rPr lang="it-IT" sz="2200" dirty="0" err="1"/>
              <a:t>CyberSciTech</a:t>
            </a:r>
            <a:r>
              <a:rPr lang="it-IT" sz="2200" dirty="0"/>
              <a:t> / </a:t>
            </a:r>
            <a:r>
              <a:rPr lang="it-IT" sz="2200" dirty="0" err="1"/>
              <a:t>PICom</a:t>
            </a:r>
            <a:r>
              <a:rPr lang="it-IT" sz="2200" dirty="0"/>
              <a:t> / DASC / </a:t>
            </a:r>
            <a:r>
              <a:rPr lang="it-IT" sz="2200" dirty="0" err="1"/>
              <a:t>CBDCom</a:t>
            </a:r>
            <a:r>
              <a:rPr lang="it-IT" sz="2200" dirty="0"/>
              <a:t> 2022 (Calabria) (180 </a:t>
            </a:r>
            <a:r>
              <a:rPr lang="it-IT" sz="2200" dirty="0" err="1"/>
              <a:t>attendees</a:t>
            </a:r>
            <a:r>
              <a:rPr lang="it-IT" sz="2200" dirty="0"/>
              <a:t>)</a:t>
            </a:r>
          </a:p>
          <a:p>
            <a:pPr lvl="1">
              <a:spcAft>
                <a:spcPts val="600"/>
              </a:spcAft>
            </a:pPr>
            <a:r>
              <a:rPr lang="it-IT" sz="1800" dirty="0">
                <a:hlinkClick r:id="rId3"/>
              </a:rPr>
              <a:t>http://cyber-science.org/2022/</a:t>
            </a:r>
            <a:endParaRPr lang="it-IT" sz="1800" dirty="0"/>
          </a:p>
          <a:p>
            <a:pPr>
              <a:spcAft>
                <a:spcPts val="600"/>
              </a:spcAft>
            </a:pPr>
            <a:r>
              <a:rPr lang="it-IT" sz="2200" dirty="0"/>
              <a:t>IEEE ICHMS 2020 (Rome) – </a:t>
            </a:r>
            <a:r>
              <a:rPr lang="it-IT" sz="1700" dirty="0"/>
              <a:t>on-line due to pandemic (175 </a:t>
            </a:r>
            <a:r>
              <a:rPr lang="it-IT" sz="1700" dirty="0" err="1"/>
              <a:t>attendees</a:t>
            </a:r>
            <a:r>
              <a:rPr lang="it-IT" sz="1700" dirty="0"/>
              <a:t>)</a:t>
            </a:r>
          </a:p>
          <a:p>
            <a:pPr lvl="1">
              <a:spcAft>
                <a:spcPts val="600"/>
              </a:spcAft>
            </a:pPr>
            <a:r>
              <a:rPr lang="it-IT" sz="1800" dirty="0">
                <a:hlinkClick r:id="rId4"/>
              </a:rPr>
              <a:t>http://ichms.dimes.unical.it/index.html</a:t>
            </a:r>
            <a:r>
              <a:rPr lang="it-IT" sz="1800" dirty="0"/>
              <a:t>	</a:t>
            </a:r>
          </a:p>
          <a:p>
            <a:pPr>
              <a:spcAft>
                <a:spcPts val="600"/>
              </a:spcAft>
            </a:pPr>
            <a:r>
              <a:rPr lang="it-IT" sz="2200" dirty="0"/>
              <a:t>IDCS 2019 (</a:t>
            </a:r>
            <a:r>
              <a:rPr lang="it-IT" sz="2200" dirty="0" err="1"/>
              <a:t>Naples</a:t>
            </a:r>
            <a:r>
              <a:rPr lang="it-IT" sz="2200" dirty="0"/>
              <a:t>)</a:t>
            </a:r>
          </a:p>
          <a:p>
            <a:pPr lvl="1">
              <a:spcAft>
                <a:spcPts val="600"/>
              </a:spcAft>
            </a:pPr>
            <a:r>
              <a:rPr lang="it-IT" sz="1800" dirty="0">
                <a:hlinkClick r:id="rId5"/>
              </a:rPr>
              <a:t>http://idcs2019.uniparthenope.it/</a:t>
            </a:r>
            <a:endParaRPr lang="it-IT" sz="2200" dirty="0"/>
          </a:p>
          <a:p>
            <a:pPr>
              <a:spcAft>
                <a:spcPts val="600"/>
              </a:spcAft>
            </a:pPr>
            <a:r>
              <a:rPr lang="it-IT" sz="2200" dirty="0"/>
              <a:t>IEEE ICNCS 2017 (Calabria) – 180 </a:t>
            </a:r>
            <a:r>
              <a:rPr lang="it-IT" sz="2200" dirty="0" err="1"/>
              <a:t>attendees</a:t>
            </a:r>
            <a:endParaRPr lang="it-IT" sz="2200" dirty="0"/>
          </a:p>
          <a:p>
            <a:pPr lvl="1">
              <a:spcAft>
                <a:spcPts val="600"/>
              </a:spcAft>
            </a:pPr>
            <a:r>
              <a:rPr lang="it-IT" sz="1800" dirty="0">
                <a:hlinkClick r:id="rId6"/>
              </a:rPr>
              <a:t>http://icnsc2017.dimes.unical.it/</a:t>
            </a:r>
            <a:endParaRPr lang="it-IT" sz="2200" dirty="0"/>
          </a:p>
          <a:p>
            <a:pPr>
              <a:spcAft>
                <a:spcPts val="600"/>
              </a:spcAft>
            </a:pPr>
            <a:r>
              <a:rPr lang="it-IT" sz="2200" dirty="0"/>
              <a:t>IEEE CSCWD 2015 (Calabria) – 150 </a:t>
            </a:r>
            <a:r>
              <a:rPr lang="it-IT" sz="2200" dirty="0" err="1"/>
              <a:t>attendees</a:t>
            </a:r>
            <a:endParaRPr lang="it-IT" sz="2200" dirty="0"/>
          </a:p>
          <a:p>
            <a:pPr lvl="1">
              <a:spcAft>
                <a:spcPts val="600"/>
              </a:spcAft>
            </a:pPr>
            <a:r>
              <a:rPr lang="it-IT" sz="1800" dirty="0">
                <a:hlinkClick r:id="rId7"/>
              </a:rPr>
              <a:t>http://2015.cscwd.org/</a:t>
            </a:r>
            <a:endParaRPr lang="it-IT" sz="2200" dirty="0"/>
          </a:p>
          <a:p>
            <a:pPr>
              <a:spcAft>
                <a:spcPts val="600"/>
              </a:spcAft>
            </a:pPr>
            <a:r>
              <a:rPr lang="it-IT" sz="2200" dirty="0"/>
              <a:t>IDCS 2014 (Calabria)</a:t>
            </a:r>
          </a:p>
          <a:p>
            <a:pPr lvl="1">
              <a:spcAft>
                <a:spcPts val="600"/>
              </a:spcAft>
            </a:pPr>
            <a:r>
              <a:rPr lang="it-IT" sz="1800" dirty="0">
                <a:hlinkClick r:id="rId8"/>
              </a:rPr>
              <a:t>http://plasma.deis.unical.it/events/idcs2014/info.html</a:t>
            </a:r>
            <a:endParaRPr lang="it-IT" sz="2200" dirty="0"/>
          </a:p>
          <a:p>
            <a:pPr>
              <a:spcAft>
                <a:spcPts val="600"/>
              </a:spcAft>
            </a:pPr>
            <a:r>
              <a:rPr lang="it-IT" sz="2200" dirty="0"/>
              <a:t>IDC 2012 (Calabria)</a:t>
            </a:r>
            <a:endParaRPr lang="it-IT" sz="1800" dirty="0"/>
          </a:p>
          <a:p>
            <a:pPr lvl="1">
              <a:spcAft>
                <a:spcPts val="600"/>
              </a:spcAft>
            </a:pPr>
            <a:r>
              <a:rPr lang="it-IT" sz="1800" dirty="0">
                <a:hlinkClick r:id="rId9"/>
              </a:rPr>
              <a:t>http://idc2012.deis.unical.it/</a:t>
            </a:r>
            <a:endParaRPr lang="it-IT" sz="1800" dirty="0"/>
          </a:p>
          <a:p>
            <a:pPr>
              <a:spcAft>
                <a:spcPts val="600"/>
              </a:spcAft>
            </a:pPr>
            <a:endParaRPr lang="it-IT" sz="220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1323815-5736-83A9-5DF1-573386621144}"/>
              </a:ext>
            </a:extLst>
          </p:cNvPr>
          <p:cNvGrpSpPr/>
          <p:nvPr/>
        </p:nvGrpSpPr>
        <p:grpSpPr>
          <a:xfrm>
            <a:off x="10079" y="67712"/>
            <a:ext cx="9133921" cy="1152727"/>
            <a:chOff x="10079" y="67712"/>
            <a:chExt cx="9133921" cy="1152727"/>
          </a:xfrm>
        </p:grpSpPr>
        <p:pic>
          <p:nvPicPr>
            <p:cNvPr id="8" name="Immagine 4">
              <a:hlinkClick r:id="rId10"/>
              <a:extLst>
                <a:ext uri="{FF2B5EF4-FFF2-40B4-BE49-F238E27FC236}">
                  <a16:creationId xmlns:a16="http://schemas.microsoft.com/office/drawing/2014/main" id="{EC62EBF1-83AC-E7EB-2FB5-A3D635615C4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086600" y="67712"/>
              <a:ext cx="2057400" cy="1028700"/>
            </a:xfrm>
            <a:prstGeom prst="rect">
              <a:avLst/>
            </a:prstGeom>
          </p:spPr>
        </p:pic>
        <p:pic>
          <p:nvPicPr>
            <p:cNvPr id="9" name="Immagine 6">
              <a:hlinkClick r:id="rId12"/>
              <a:extLst>
                <a:ext uri="{FF2B5EF4-FFF2-40B4-BE49-F238E27FC236}">
                  <a16:creationId xmlns:a16="http://schemas.microsoft.com/office/drawing/2014/main" id="{7DAEF005-5CF1-31D0-657A-DFC32A0C1F0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4240694" y="174439"/>
              <a:ext cx="838200" cy="838200"/>
            </a:xfrm>
            <a:prstGeom prst="rect">
              <a:avLst/>
            </a:prstGeom>
          </p:spPr>
        </p:pic>
        <p:sp>
          <p:nvSpPr>
            <p:cNvPr id="12" name="CasellaDiTesto 8">
              <a:extLst>
                <a:ext uri="{FF2B5EF4-FFF2-40B4-BE49-F238E27FC236}">
                  <a16:creationId xmlns:a16="http://schemas.microsoft.com/office/drawing/2014/main" id="{CF2D999F-49C3-90C6-F956-9906EE1D4249}"/>
                </a:ext>
              </a:extLst>
            </p:cNvPr>
            <p:cNvSpPr txBox="1"/>
            <p:nvPr/>
          </p:nvSpPr>
          <p:spPr>
            <a:xfrm>
              <a:off x="5088833" y="280456"/>
              <a:ext cx="25908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 b="1" dirty="0"/>
                <a:t>SPEME Lab: </a:t>
              </a:r>
              <a:r>
                <a:rPr lang="it-IT" sz="1200" b="1" dirty="0">
                  <a:hlinkClick r:id="rId14"/>
                </a:rPr>
                <a:t>http://speme.dimes.unical.it/</a:t>
              </a:r>
              <a:endParaRPr lang="it-IT" sz="1200" b="1" dirty="0"/>
            </a:p>
            <a:p>
              <a:r>
                <a:rPr lang="it-IT" sz="1200" b="1" dirty="0"/>
                <a:t> </a:t>
              </a:r>
            </a:p>
          </p:txBody>
        </p:sp>
        <p:sp>
          <p:nvSpPr>
            <p:cNvPr id="13" name="CasellaDiTesto 9">
              <a:extLst>
                <a:ext uri="{FF2B5EF4-FFF2-40B4-BE49-F238E27FC236}">
                  <a16:creationId xmlns:a16="http://schemas.microsoft.com/office/drawing/2014/main" id="{0740B955-1820-759A-3849-3FA16D8A2A43}"/>
                </a:ext>
              </a:extLst>
            </p:cNvPr>
            <p:cNvSpPr txBox="1"/>
            <p:nvPr/>
          </p:nvSpPr>
          <p:spPr>
            <a:xfrm>
              <a:off x="7076521" y="943440"/>
              <a:ext cx="20574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 b="1" dirty="0"/>
                <a:t>http://www.sensyscal.com</a:t>
              </a: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71B1951F-2BEC-8994-93DA-EDADA613967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79" y="204256"/>
              <a:ext cx="2356347" cy="89597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Picture 2" descr="Brand Materials - IEEE SMC">
              <a:extLst>
                <a:ext uri="{FF2B5EF4-FFF2-40B4-BE49-F238E27FC236}">
                  <a16:creationId xmlns:a16="http://schemas.microsoft.com/office/drawing/2014/main" id="{C62BB358-9AB0-10C9-2D92-FA778E8D62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85076" y="286006"/>
              <a:ext cx="1917700" cy="5753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2864810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5">
            <a:extLst>
              <a:ext uri="{FF2B5EF4-FFF2-40B4-BE49-F238E27FC236}">
                <a16:creationId xmlns:a16="http://schemas.microsoft.com/office/drawing/2014/main" id="{82216BE4-46D4-6511-BA71-DBB07F32CC2C}"/>
              </a:ext>
            </a:extLst>
          </p:cNvPr>
          <p:cNvSpPr txBox="1">
            <a:spLocks/>
          </p:cNvSpPr>
          <p:nvPr/>
        </p:nvSpPr>
        <p:spPr>
          <a:xfrm>
            <a:off x="475880" y="1643486"/>
            <a:ext cx="7574057" cy="4008344"/>
          </a:xfrm>
          <a:prstGeom prst="rect">
            <a:avLst/>
          </a:prstGeom>
        </p:spPr>
        <p:txBody>
          <a:bodyPr/>
          <a:lstStyle>
            <a:lvl1pPr marL="400050" indent="-400050" algn="l" defTabSz="914400" rtl="0" eaLnBrk="1" latinLnBrk="0" hangingPunct="1">
              <a:spcBef>
                <a:spcPct val="20000"/>
              </a:spcBef>
              <a:buFont typeface="+mj-lt"/>
              <a:buAutoNum type="romanUcPeriod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8700" indent="-571500" algn="l" defTabSz="914400" rtl="0" eaLnBrk="1" latinLnBrk="0" hangingPunct="1">
              <a:spcBef>
                <a:spcPct val="20000"/>
              </a:spcBef>
              <a:buFont typeface="+mj-lt"/>
              <a:buAutoNum type="romanLcPeriod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57288" lvl="1" indent="-386954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856059" lvl="2" indent="0">
              <a:buNone/>
            </a:pPr>
            <a:endParaRPr lang="en-US" sz="1500" dirty="0"/>
          </a:p>
          <a:p>
            <a:pPr marL="1157288" lvl="1" indent="-386954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1157288" lvl="1" indent="-386954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0" indent="0">
              <a:buNone/>
            </a:pPr>
            <a:endParaRPr lang="en-CA" sz="1800" dirty="0"/>
          </a:p>
          <a:p>
            <a:pPr lvl="1">
              <a:buFont typeface="Arial" panose="020B0604020202020204" pitchFamily="34" charset="0"/>
              <a:buChar char="•"/>
            </a:pPr>
            <a:endParaRPr lang="en-US" sz="1800" dirty="0"/>
          </a:p>
          <a:p>
            <a:endParaRPr lang="en-US" sz="18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0717FAC-4090-683F-A899-762A39338B1B}"/>
              </a:ext>
            </a:extLst>
          </p:cNvPr>
          <p:cNvSpPr txBox="1"/>
          <p:nvPr/>
        </p:nvSpPr>
        <p:spPr>
          <a:xfrm>
            <a:off x="1" y="1304155"/>
            <a:ext cx="90677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C8102E"/>
                </a:solidFill>
                <a:latin typeface="+mj-lt"/>
                <a:ea typeface="+mj-ea"/>
                <a:cs typeface="+mj-cs"/>
              </a:rPr>
              <a:t>CYB Conf 2027: Theme &amp; Specific Topics </a:t>
            </a:r>
            <a:r>
              <a:rPr lang="en-US" sz="2000" b="1" dirty="0">
                <a:solidFill>
                  <a:srgbClr val="C8102E"/>
                </a:solidFill>
              </a:rPr>
              <a:t>(not limited to)</a:t>
            </a:r>
            <a:r>
              <a:rPr lang="en-US" sz="3200" b="1" dirty="0">
                <a:solidFill>
                  <a:srgbClr val="C8102E"/>
                </a:solidFill>
                <a:latin typeface="+mj-lt"/>
                <a:ea typeface="+mj-ea"/>
                <a:cs typeface="+mj-cs"/>
              </a:rPr>
              <a:t>  </a:t>
            </a:r>
            <a:endParaRPr lang="en-CA" sz="3200" b="1" dirty="0">
              <a:solidFill>
                <a:srgbClr val="C8102E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9" name="Content Placeholder 5">
            <a:extLst>
              <a:ext uri="{FF2B5EF4-FFF2-40B4-BE49-F238E27FC236}">
                <a16:creationId xmlns:a16="http://schemas.microsoft.com/office/drawing/2014/main" id="{D05B057D-A673-F0A8-723D-340ADB6F9C0F}"/>
              </a:ext>
            </a:extLst>
          </p:cNvPr>
          <p:cNvSpPr txBox="1">
            <a:spLocks/>
          </p:cNvSpPr>
          <p:nvPr/>
        </p:nvSpPr>
        <p:spPr>
          <a:xfrm>
            <a:off x="103537" y="1769100"/>
            <a:ext cx="8839199" cy="553998"/>
          </a:xfrm>
          <a:prstGeom prst="rect">
            <a:avLst/>
          </a:prstGeom>
        </p:spPr>
        <p:txBody>
          <a:bodyPr/>
          <a:lstStyle>
            <a:lvl1pPr marL="400050" indent="-400050" algn="l" defTabSz="914400" rtl="0" eaLnBrk="1" latinLnBrk="0" hangingPunct="1">
              <a:spcBef>
                <a:spcPct val="20000"/>
              </a:spcBef>
              <a:buFont typeface="+mj-lt"/>
              <a:buAutoNum type="romanUcPeriod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8700" indent="-571500" algn="l" defTabSz="914400" rtl="0" eaLnBrk="1" latinLnBrk="0" hangingPunct="1">
              <a:spcBef>
                <a:spcPct val="20000"/>
              </a:spcBef>
              <a:buFont typeface="+mj-lt"/>
              <a:buAutoNum type="romanLcPeriod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8847" indent="0" algn="ctr">
              <a:buNone/>
            </a:pPr>
            <a:r>
              <a:rPr lang="en-US" sz="2800" b="1" dirty="0">
                <a:solidFill>
                  <a:schemeClr val="accent1"/>
                </a:solidFill>
              </a:rPr>
              <a:t>Towards Smart Humanoid Robotics</a:t>
            </a:r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EE926E6-21B6-D029-52CA-C12440BE5E0A}"/>
              </a:ext>
            </a:extLst>
          </p:cNvPr>
          <p:cNvGrpSpPr/>
          <p:nvPr/>
        </p:nvGrpSpPr>
        <p:grpSpPr>
          <a:xfrm>
            <a:off x="10079" y="67712"/>
            <a:ext cx="9133921" cy="1152727"/>
            <a:chOff x="10079" y="67712"/>
            <a:chExt cx="9133921" cy="1152727"/>
          </a:xfrm>
        </p:grpSpPr>
        <p:pic>
          <p:nvPicPr>
            <p:cNvPr id="3" name="Immagine 4">
              <a:hlinkClick r:id="rId2"/>
              <a:extLst>
                <a:ext uri="{FF2B5EF4-FFF2-40B4-BE49-F238E27FC236}">
                  <a16:creationId xmlns:a16="http://schemas.microsoft.com/office/drawing/2014/main" id="{1B71D551-593E-A3AC-09EF-9268F21C88A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86600" y="67712"/>
              <a:ext cx="2057400" cy="1028700"/>
            </a:xfrm>
            <a:prstGeom prst="rect">
              <a:avLst/>
            </a:prstGeom>
          </p:spPr>
        </p:pic>
        <p:pic>
          <p:nvPicPr>
            <p:cNvPr id="6" name="Immagine 6">
              <a:hlinkClick r:id="rId4"/>
              <a:extLst>
                <a:ext uri="{FF2B5EF4-FFF2-40B4-BE49-F238E27FC236}">
                  <a16:creationId xmlns:a16="http://schemas.microsoft.com/office/drawing/2014/main" id="{EEF04BD3-E92B-859D-8E82-1079A084FE2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240694" y="174439"/>
              <a:ext cx="838200" cy="838200"/>
            </a:xfrm>
            <a:prstGeom prst="rect">
              <a:avLst/>
            </a:prstGeom>
          </p:spPr>
        </p:pic>
        <p:sp>
          <p:nvSpPr>
            <p:cNvPr id="8" name="CasellaDiTesto 8">
              <a:extLst>
                <a:ext uri="{FF2B5EF4-FFF2-40B4-BE49-F238E27FC236}">
                  <a16:creationId xmlns:a16="http://schemas.microsoft.com/office/drawing/2014/main" id="{18179012-B933-B3D8-E51E-FF608F966C1F}"/>
                </a:ext>
              </a:extLst>
            </p:cNvPr>
            <p:cNvSpPr txBox="1"/>
            <p:nvPr/>
          </p:nvSpPr>
          <p:spPr>
            <a:xfrm>
              <a:off x="5088833" y="280456"/>
              <a:ext cx="25908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 b="1" dirty="0"/>
                <a:t>SPEME Lab: </a:t>
              </a:r>
              <a:r>
                <a:rPr lang="it-IT" sz="1200" b="1" dirty="0">
                  <a:hlinkClick r:id="rId6"/>
                </a:rPr>
                <a:t>http://speme.dimes.unical.it/</a:t>
              </a:r>
              <a:endParaRPr lang="it-IT" sz="1200" b="1" dirty="0"/>
            </a:p>
            <a:p>
              <a:r>
                <a:rPr lang="it-IT" sz="1200" b="1" dirty="0"/>
                <a:t> </a:t>
              </a:r>
            </a:p>
          </p:txBody>
        </p:sp>
        <p:sp>
          <p:nvSpPr>
            <p:cNvPr id="9" name="CasellaDiTesto 9">
              <a:extLst>
                <a:ext uri="{FF2B5EF4-FFF2-40B4-BE49-F238E27FC236}">
                  <a16:creationId xmlns:a16="http://schemas.microsoft.com/office/drawing/2014/main" id="{0571B015-E660-264F-2552-63768D4C5488}"/>
                </a:ext>
              </a:extLst>
            </p:cNvPr>
            <p:cNvSpPr txBox="1"/>
            <p:nvPr/>
          </p:nvSpPr>
          <p:spPr>
            <a:xfrm>
              <a:off x="7076521" y="943440"/>
              <a:ext cx="20574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 b="1" dirty="0"/>
                <a:t>http://www.sensyscal.com</a:t>
              </a: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91539141-4F9D-A07D-3851-DCE7274304A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79" y="204256"/>
              <a:ext cx="2356347" cy="89597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" name="Picture 2" descr="Brand Materials - IEEE SMC">
              <a:extLst>
                <a:ext uri="{FF2B5EF4-FFF2-40B4-BE49-F238E27FC236}">
                  <a16:creationId xmlns:a16="http://schemas.microsoft.com/office/drawing/2014/main" id="{26F1E727-0C1A-A787-25EA-8C7D778291A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85076" y="286006"/>
              <a:ext cx="1917700" cy="5753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9BB3B761-40CB-AA86-8678-7185E4BCD058}"/>
              </a:ext>
            </a:extLst>
          </p:cNvPr>
          <p:cNvSpPr txBox="1"/>
          <p:nvPr/>
        </p:nvSpPr>
        <p:spPr>
          <a:xfrm>
            <a:off x="201264" y="2333685"/>
            <a:ext cx="45720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100" b="1" dirty="0">
                <a:effectLst/>
                <a:latin typeface="Helvetica Neue" panose="02000503000000020004" pitchFamily="2" charset="0"/>
              </a:rPr>
              <a:t>Perception &amp; Sensing</a:t>
            </a:r>
            <a:endParaRPr lang="en-GB" sz="1100" dirty="0">
              <a:effectLst/>
              <a:latin typeface="Helvetica Neue" panose="02000503000000020004" pitchFamily="2" charset="0"/>
            </a:endParaRPr>
          </a:p>
          <a:p>
            <a:pPr>
              <a:buFont typeface="+mj-lt"/>
              <a:buAutoNum type="arabicPeriod"/>
            </a:pPr>
            <a:r>
              <a:rPr lang="en-GB" sz="1100" dirty="0">
                <a:effectLst/>
                <a:latin typeface="Helvetica Neue" panose="02000503000000020004" pitchFamily="2" charset="0"/>
              </a:rPr>
              <a:t>Multimodal sensory integration in humanoid robots (vision, touch, sound, proprioception)</a:t>
            </a:r>
          </a:p>
          <a:p>
            <a:pPr>
              <a:buFont typeface="+mj-lt"/>
              <a:buAutoNum type="arabicPeriod"/>
            </a:pPr>
            <a:r>
              <a:rPr lang="en-GB" sz="1100" dirty="0">
                <a:effectLst/>
                <a:latin typeface="Helvetica Neue" panose="02000503000000020004" pitchFamily="2" charset="0"/>
              </a:rPr>
              <a:t>Real-time 3D environment mapping and spatial awareness for bipedal robots</a:t>
            </a:r>
          </a:p>
          <a:p>
            <a:pPr>
              <a:buFont typeface="+mj-lt"/>
              <a:buAutoNum type="arabicPeriod"/>
            </a:pPr>
            <a:r>
              <a:rPr lang="en-GB" sz="1100" dirty="0">
                <a:effectLst/>
                <a:latin typeface="Helvetica Neue" panose="02000503000000020004" pitchFamily="2" charset="0"/>
              </a:rPr>
              <a:t>Emotion and facial expression recognition for human-robot social interaction</a:t>
            </a:r>
          </a:p>
          <a:p>
            <a:pPr>
              <a:buNone/>
            </a:pPr>
            <a:br>
              <a:rPr lang="en-GB" sz="1100" dirty="0">
                <a:effectLst/>
                <a:latin typeface="Helvetica Neue" panose="02000503000000020004" pitchFamily="2" charset="0"/>
              </a:rPr>
            </a:br>
            <a:endParaRPr lang="en-GB" sz="1100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en-GB" sz="1100" b="1" dirty="0">
                <a:effectLst/>
                <a:latin typeface="Helvetica Neue" panose="02000503000000020004" pitchFamily="2" charset="0"/>
              </a:rPr>
              <a:t>Motion &amp; Control</a:t>
            </a:r>
            <a:r>
              <a:rPr lang="en-GB" sz="1100" dirty="0">
                <a:effectLst/>
                <a:latin typeface="Helvetica Neue" panose="02000503000000020004" pitchFamily="2" charset="0"/>
              </a:rPr>
              <a:t> </a:t>
            </a:r>
          </a:p>
          <a:p>
            <a:pPr>
              <a:buNone/>
            </a:pPr>
            <a:r>
              <a:rPr lang="en-GB" sz="1100" dirty="0">
                <a:effectLst/>
                <a:latin typeface="Helvetica Neue" panose="02000503000000020004" pitchFamily="2" charset="0"/>
              </a:rPr>
              <a:t>4. Dynamic balance and fall recovery in bipedal locomotion </a:t>
            </a:r>
          </a:p>
          <a:p>
            <a:pPr>
              <a:buNone/>
            </a:pPr>
            <a:r>
              <a:rPr lang="en-GB" sz="1100" dirty="0">
                <a:effectLst/>
                <a:latin typeface="Helvetica Neue" panose="02000503000000020004" pitchFamily="2" charset="0"/>
              </a:rPr>
              <a:t>5. Whole-body motion planning for manipulation in unstructured environments </a:t>
            </a:r>
          </a:p>
          <a:p>
            <a:pPr>
              <a:buNone/>
            </a:pPr>
            <a:r>
              <a:rPr lang="en-GB" sz="1100" dirty="0">
                <a:effectLst/>
                <a:latin typeface="Helvetica Neue" panose="02000503000000020004" pitchFamily="2" charset="0"/>
              </a:rPr>
              <a:t>6. Energy-efficient actuator design for humanoid joint systems </a:t>
            </a:r>
          </a:p>
          <a:p>
            <a:pPr>
              <a:buNone/>
            </a:pPr>
            <a:r>
              <a:rPr lang="en-GB" sz="1100" dirty="0">
                <a:effectLst/>
                <a:latin typeface="Helvetica Neue" panose="02000503000000020004" pitchFamily="2" charset="0"/>
              </a:rPr>
              <a:t>7. Imitation learning from human motion capture data</a:t>
            </a:r>
          </a:p>
          <a:p>
            <a:pPr>
              <a:buNone/>
            </a:pPr>
            <a:br>
              <a:rPr lang="en-GB" sz="1100" dirty="0">
                <a:effectLst/>
                <a:latin typeface="Helvetica Neue" panose="02000503000000020004" pitchFamily="2" charset="0"/>
              </a:rPr>
            </a:br>
            <a:endParaRPr lang="en-GB" sz="1100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en-GB" sz="1100" b="1" dirty="0">
                <a:effectLst/>
                <a:latin typeface="Helvetica Neue" panose="02000503000000020004" pitchFamily="2" charset="0"/>
              </a:rPr>
              <a:t>Cognition &amp; AI</a:t>
            </a:r>
            <a:r>
              <a:rPr lang="en-GB" sz="1100" dirty="0">
                <a:effectLst/>
                <a:latin typeface="Helvetica Neue" panose="02000503000000020004" pitchFamily="2" charset="0"/>
              </a:rPr>
              <a:t> </a:t>
            </a:r>
          </a:p>
          <a:p>
            <a:pPr>
              <a:buNone/>
            </a:pPr>
            <a:r>
              <a:rPr lang="en-GB" sz="1100" dirty="0">
                <a:effectLst/>
                <a:latin typeface="Helvetica Neue" panose="02000503000000020004" pitchFamily="2" charset="0"/>
              </a:rPr>
              <a:t>8. Large language models integrated into humanoid robot decision-making </a:t>
            </a:r>
          </a:p>
          <a:p>
            <a:pPr>
              <a:buNone/>
            </a:pPr>
            <a:r>
              <a:rPr lang="en-GB" sz="1100" dirty="0">
                <a:effectLst/>
                <a:latin typeface="Helvetica Neue" panose="02000503000000020004" pitchFamily="2" charset="0"/>
              </a:rPr>
              <a:t>9. Commonsense reasoning and situational awareness in autonomous humanoids </a:t>
            </a:r>
          </a:p>
          <a:p>
            <a:pPr>
              <a:buNone/>
            </a:pPr>
            <a:r>
              <a:rPr lang="en-GB" sz="1100" dirty="0">
                <a:effectLst/>
                <a:latin typeface="Helvetica Neue" panose="02000503000000020004" pitchFamily="2" charset="0"/>
              </a:rPr>
              <a:t>10. Continual and lifelong learning for robots operating in changing environments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E1EFE4-5E1D-D8C1-5E2C-13893D84495B}"/>
              </a:ext>
            </a:extLst>
          </p:cNvPr>
          <p:cNvSpPr txBox="1"/>
          <p:nvPr/>
        </p:nvSpPr>
        <p:spPr>
          <a:xfrm>
            <a:off x="4645352" y="2331769"/>
            <a:ext cx="4572000" cy="3985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100" b="1" dirty="0">
                <a:effectLst/>
                <a:latin typeface="Helvetica Neue" panose="02000503000000020004" pitchFamily="2" charset="0"/>
              </a:rPr>
              <a:t>Human-Robot Interaction</a:t>
            </a:r>
            <a:r>
              <a:rPr lang="en-GB" sz="1100" dirty="0">
                <a:effectLst/>
                <a:latin typeface="Helvetica Neue" panose="02000503000000020004" pitchFamily="2" charset="0"/>
              </a:rPr>
              <a:t> </a:t>
            </a:r>
          </a:p>
          <a:p>
            <a:pPr>
              <a:buNone/>
            </a:pPr>
            <a:r>
              <a:rPr lang="en-GB" sz="1100" dirty="0">
                <a:effectLst/>
                <a:latin typeface="Helvetica Neue" panose="02000503000000020004" pitchFamily="2" charset="0"/>
              </a:rPr>
              <a:t>11. Natural language dialogue systems for intuitive human-robot communication </a:t>
            </a:r>
          </a:p>
          <a:p>
            <a:pPr>
              <a:buNone/>
            </a:pPr>
            <a:r>
              <a:rPr lang="en-GB" sz="1100" dirty="0">
                <a:effectLst/>
                <a:latin typeface="Helvetica Neue" panose="02000503000000020004" pitchFamily="2" charset="0"/>
              </a:rPr>
              <a:t>12. Trust calibration and transparency in human-robot collaboration </a:t>
            </a:r>
          </a:p>
          <a:p>
            <a:pPr>
              <a:buNone/>
            </a:pPr>
            <a:r>
              <a:rPr lang="en-GB" sz="1100" dirty="0">
                <a:effectLst/>
                <a:latin typeface="Helvetica Neue" panose="02000503000000020004" pitchFamily="2" charset="0"/>
              </a:rPr>
              <a:t>13. Affective computing — robots that detect and respond to human emotions </a:t>
            </a:r>
          </a:p>
          <a:p>
            <a:pPr>
              <a:buNone/>
            </a:pPr>
            <a:r>
              <a:rPr lang="en-GB" sz="1100" dirty="0">
                <a:effectLst/>
                <a:latin typeface="Helvetica Neue" panose="02000503000000020004" pitchFamily="2" charset="0"/>
              </a:rPr>
              <a:t>14. Proxemics and social norms in human-robot co-habitation</a:t>
            </a:r>
          </a:p>
          <a:p>
            <a:pPr>
              <a:buNone/>
            </a:pPr>
            <a:br>
              <a:rPr lang="en-GB" sz="1100" dirty="0">
                <a:effectLst/>
                <a:latin typeface="Helvetica Neue" panose="02000503000000020004" pitchFamily="2" charset="0"/>
              </a:rPr>
            </a:br>
            <a:endParaRPr lang="en-GB" sz="1100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en-GB" sz="1100" b="1" dirty="0">
                <a:effectLst/>
                <a:latin typeface="Helvetica Neue" panose="02000503000000020004" pitchFamily="2" charset="0"/>
              </a:rPr>
              <a:t>Applications &amp; Deployment</a:t>
            </a:r>
            <a:r>
              <a:rPr lang="en-GB" sz="1100" dirty="0">
                <a:effectLst/>
                <a:latin typeface="Helvetica Neue" panose="02000503000000020004" pitchFamily="2" charset="0"/>
              </a:rPr>
              <a:t> </a:t>
            </a:r>
          </a:p>
          <a:p>
            <a:pPr>
              <a:buNone/>
            </a:pPr>
            <a:r>
              <a:rPr lang="en-GB" sz="1100" dirty="0">
                <a:effectLst/>
                <a:latin typeface="Helvetica Neue" panose="02000503000000020004" pitchFamily="2" charset="0"/>
              </a:rPr>
              <a:t>15. Humanoid robots in eldercare and assistive living environments </a:t>
            </a:r>
          </a:p>
          <a:p>
            <a:pPr>
              <a:buNone/>
            </a:pPr>
            <a:r>
              <a:rPr lang="en-GB" sz="1100" dirty="0">
                <a:effectLst/>
                <a:latin typeface="Helvetica Neue" panose="02000503000000020004" pitchFamily="2" charset="0"/>
              </a:rPr>
              <a:t>16. Collaborative humanoid robots in industrial and manufacturing settings </a:t>
            </a:r>
          </a:p>
          <a:p>
            <a:pPr>
              <a:buNone/>
            </a:pPr>
            <a:r>
              <a:rPr lang="en-GB" sz="1100" dirty="0">
                <a:effectLst/>
                <a:latin typeface="Helvetica Neue" panose="02000503000000020004" pitchFamily="2" charset="0"/>
              </a:rPr>
              <a:t>17. Humanoid robots as educators or tutors in learning environments</a:t>
            </a:r>
          </a:p>
          <a:p>
            <a:pPr>
              <a:buNone/>
            </a:pPr>
            <a:br>
              <a:rPr lang="en-GB" sz="1100" dirty="0">
                <a:effectLst/>
                <a:latin typeface="Helvetica Neue" panose="02000503000000020004" pitchFamily="2" charset="0"/>
              </a:rPr>
            </a:br>
            <a:endParaRPr lang="en-GB" sz="1100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en-GB" sz="1100" b="1" dirty="0">
                <a:effectLst/>
                <a:latin typeface="Helvetica Neue" panose="02000503000000020004" pitchFamily="2" charset="0"/>
              </a:rPr>
              <a:t>Ethics, Safety &amp; Design</a:t>
            </a:r>
            <a:r>
              <a:rPr lang="en-GB" sz="1100" dirty="0">
                <a:effectLst/>
                <a:latin typeface="Helvetica Neue" panose="02000503000000020004" pitchFamily="2" charset="0"/>
              </a:rPr>
              <a:t> </a:t>
            </a:r>
          </a:p>
          <a:p>
            <a:pPr>
              <a:buNone/>
            </a:pPr>
            <a:r>
              <a:rPr lang="en-GB" sz="1100" dirty="0">
                <a:effectLst/>
                <a:latin typeface="Helvetica Neue" panose="02000503000000020004" pitchFamily="2" charset="0"/>
              </a:rPr>
              <a:t>18. Ethical frameworks for autonomous decision-making in humanoid systems </a:t>
            </a:r>
          </a:p>
          <a:p>
            <a:pPr>
              <a:buNone/>
            </a:pPr>
            <a:r>
              <a:rPr lang="en-GB" sz="1100" dirty="0">
                <a:effectLst/>
                <a:latin typeface="Helvetica Neue" panose="02000503000000020004" pitchFamily="2" charset="0"/>
              </a:rPr>
              <a:t>19. Soft robotics and biomimetic body design for safer human interaction </a:t>
            </a:r>
          </a:p>
          <a:p>
            <a:pPr>
              <a:buNone/>
            </a:pPr>
            <a:r>
              <a:rPr lang="en-GB" sz="1100" dirty="0">
                <a:effectLst/>
                <a:latin typeface="Helvetica Neue" panose="02000503000000020004" pitchFamily="2" charset="0"/>
              </a:rPr>
              <a:t>20. Cybersecurity and adversarial robustness in networked humanoid systems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4061F-C021-9ABF-EB4F-B1CC1DDE3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5">
            <a:extLst>
              <a:ext uri="{FF2B5EF4-FFF2-40B4-BE49-F238E27FC236}">
                <a16:creationId xmlns:a16="http://schemas.microsoft.com/office/drawing/2014/main" id="{466DC585-56C5-AAE0-3AA5-64B0553891FF}"/>
              </a:ext>
            </a:extLst>
          </p:cNvPr>
          <p:cNvSpPr txBox="1">
            <a:spLocks/>
          </p:cNvSpPr>
          <p:nvPr/>
        </p:nvSpPr>
        <p:spPr>
          <a:xfrm>
            <a:off x="475880" y="1643486"/>
            <a:ext cx="7574057" cy="4008344"/>
          </a:xfrm>
          <a:prstGeom prst="rect">
            <a:avLst/>
          </a:prstGeom>
        </p:spPr>
        <p:txBody>
          <a:bodyPr/>
          <a:lstStyle>
            <a:lvl1pPr marL="400050" indent="-400050" algn="l" defTabSz="914400" rtl="0" eaLnBrk="1" latinLnBrk="0" hangingPunct="1">
              <a:spcBef>
                <a:spcPct val="20000"/>
              </a:spcBef>
              <a:buFont typeface="+mj-lt"/>
              <a:buAutoNum type="romanUcPeriod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8700" indent="-571500" algn="l" defTabSz="914400" rtl="0" eaLnBrk="1" latinLnBrk="0" hangingPunct="1">
              <a:spcBef>
                <a:spcPct val="20000"/>
              </a:spcBef>
              <a:buFont typeface="+mj-lt"/>
              <a:buAutoNum type="romanLcPeriod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57288" lvl="1" indent="-386954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856059" lvl="2" indent="0">
              <a:buNone/>
            </a:pPr>
            <a:endParaRPr lang="en-US" sz="1500" dirty="0"/>
          </a:p>
          <a:p>
            <a:pPr marL="1157288" lvl="1" indent="-386954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1157288" lvl="1" indent="-386954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0" indent="0">
              <a:buNone/>
            </a:pPr>
            <a:endParaRPr lang="en-CA" sz="1800" dirty="0"/>
          </a:p>
          <a:p>
            <a:pPr lvl="1">
              <a:buFont typeface="Arial" panose="020B0604020202020204" pitchFamily="34" charset="0"/>
              <a:buChar char="•"/>
            </a:pPr>
            <a:endParaRPr lang="en-US" sz="1800" dirty="0"/>
          </a:p>
          <a:p>
            <a:endParaRPr lang="en-US" sz="18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1A2A24A-99F1-D7B9-00B9-1484E0FE88CB}"/>
              </a:ext>
            </a:extLst>
          </p:cNvPr>
          <p:cNvSpPr txBox="1"/>
          <p:nvPr/>
        </p:nvSpPr>
        <p:spPr>
          <a:xfrm>
            <a:off x="1" y="1155070"/>
            <a:ext cx="90677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C8102E"/>
                </a:solidFill>
                <a:latin typeface="+mj-lt"/>
                <a:ea typeface="+mj-ea"/>
                <a:cs typeface="+mj-cs"/>
              </a:rPr>
              <a:t>CYB Conf 2027: Regular Topics </a:t>
            </a:r>
            <a:r>
              <a:rPr lang="en-US" sz="2400" b="1" dirty="0">
                <a:solidFill>
                  <a:srgbClr val="C8102E"/>
                </a:solidFill>
                <a:latin typeface="+mj-lt"/>
                <a:ea typeface="+mj-ea"/>
                <a:cs typeface="+mj-cs"/>
              </a:rPr>
              <a:t>(not limited to)  </a:t>
            </a:r>
            <a:endParaRPr lang="en-CA" sz="3200" b="1" dirty="0">
              <a:solidFill>
                <a:srgbClr val="C8102E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250DB47-92D3-A570-41BF-DE1A41D6A6A5}"/>
              </a:ext>
            </a:extLst>
          </p:cNvPr>
          <p:cNvGrpSpPr/>
          <p:nvPr/>
        </p:nvGrpSpPr>
        <p:grpSpPr>
          <a:xfrm>
            <a:off x="10079" y="67712"/>
            <a:ext cx="9133921" cy="1152727"/>
            <a:chOff x="10079" y="67712"/>
            <a:chExt cx="9133921" cy="1152727"/>
          </a:xfrm>
        </p:grpSpPr>
        <p:pic>
          <p:nvPicPr>
            <p:cNvPr id="3" name="Immagine 4">
              <a:hlinkClick r:id="rId2"/>
              <a:extLst>
                <a:ext uri="{FF2B5EF4-FFF2-40B4-BE49-F238E27FC236}">
                  <a16:creationId xmlns:a16="http://schemas.microsoft.com/office/drawing/2014/main" id="{95B93457-176C-B48B-7185-15B9762A2BC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86600" y="67712"/>
              <a:ext cx="2057400" cy="1028700"/>
            </a:xfrm>
            <a:prstGeom prst="rect">
              <a:avLst/>
            </a:prstGeom>
          </p:spPr>
        </p:pic>
        <p:pic>
          <p:nvPicPr>
            <p:cNvPr id="6" name="Immagine 6">
              <a:hlinkClick r:id="rId4"/>
              <a:extLst>
                <a:ext uri="{FF2B5EF4-FFF2-40B4-BE49-F238E27FC236}">
                  <a16:creationId xmlns:a16="http://schemas.microsoft.com/office/drawing/2014/main" id="{BEFE84A9-192E-C2D1-EBB3-CCD343776E0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240694" y="174439"/>
              <a:ext cx="838200" cy="838200"/>
            </a:xfrm>
            <a:prstGeom prst="rect">
              <a:avLst/>
            </a:prstGeom>
          </p:spPr>
        </p:pic>
        <p:sp>
          <p:nvSpPr>
            <p:cNvPr id="8" name="CasellaDiTesto 8">
              <a:extLst>
                <a:ext uri="{FF2B5EF4-FFF2-40B4-BE49-F238E27FC236}">
                  <a16:creationId xmlns:a16="http://schemas.microsoft.com/office/drawing/2014/main" id="{D13BBDDB-2D81-EE5C-B7A0-D55604FD25CC}"/>
                </a:ext>
              </a:extLst>
            </p:cNvPr>
            <p:cNvSpPr txBox="1"/>
            <p:nvPr/>
          </p:nvSpPr>
          <p:spPr>
            <a:xfrm>
              <a:off x="5088833" y="280456"/>
              <a:ext cx="25908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 b="1" dirty="0"/>
                <a:t>SPEME Lab: </a:t>
              </a:r>
              <a:r>
                <a:rPr lang="it-IT" sz="1200" b="1" dirty="0">
                  <a:hlinkClick r:id="rId6"/>
                </a:rPr>
                <a:t>http://speme.dimes.unical.it/</a:t>
              </a:r>
              <a:endParaRPr lang="it-IT" sz="1200" b="1" dirty="0"/>
            </a:p>
            <a:p>
              <a:r>
                <a:rPr lang="it-IT" sz="1200" b="1" dirty="0"/>
                <a:t> </a:t>
              </a:r>
            </a:p>
          </p:txBody>
        </p:sp>
        <p:sp>
          <p:nvSpPr>
            <p:cNvPr id="9" name="CasellaDiTesto 9">
              <a:extLst>
                <a:ext uri="{FF2B5EF4-FFF2-40B4-BE49-F238E27FC236}">
                  <a16:creationId xmlns:a16="http://schemas.microsoft.com/office/drawing/2014/main" id="{73BEA0E1-3342-7141-820B-05FC58B7230E}"/>
                </a:ext>
              </a:extLst>
            </p:cNvPr>
            <p:cNvSpPr txBox="1"/>
            <p:nvPr/>
          </p:nvSpPr>
          <p:spPr>
            <a:xfrm>
              <a:off x="7076521" y="943440"/>
              <a:ext cx="20574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 b="1" dirty="0"/>
                <a:t>http://www.sensyscal.com</a:t>
              </a: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34DBD5C-8260-EB39-1155-13F25557C3C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79" y="204256"/>
              <a:ext cx="2356347" cy="89597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" name="Picture 2" descr="Brand Materials - IEEE SMC">
              <a:extLst>
                <a:ext uri="{FF2B5EF4-FFF2-40B4-BE49-F238E27FC236}">
                  <a16:creationId xmlns:a16="http://schemas.microsoft.com/office/drawing/2014/main" id="{11AD0170-1C2A-B98A-6443-3DB5D6B1304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85076" y="286006"/>
              <a:ext cx="1917700" cy="5753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1" name="Rectangle 2">
            <a:extLst>
              <a:ext uri="{FF2B5EF4-FFF2-40B4-BE49-F238E27FC236}">
                <a16:creationId xmlns:a16="http://schemas.microsoft.com/office/drawing/2014/main" id="{DA7AB985-CEF8-D4E2-6A16-329BF913BA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9" y="1595021"/>
            <a:ext cx="8945078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T" altLang="en-IT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Human-Machine Integration</a:t>
            </a:r>
            <a:endParaRPr kumimoji="0" lang="en-IT" altLang="en-IT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IT" altLang="en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Adaptive brain-computer interfaces (BCIs) for real-time bidirectional communication between humans and machines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IT" altLang="en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Closed-loop cybernetic prosthetics with sensory feedback and neural control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endParaRPr kumimoji="0" lang="en-IT" altLang="en-IT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T" altLang="en-IT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Control &amp; Feedback Systems</a:t>
            </a:r>
            <a:r>
              <a:rPr kumimoji="0" lang="en-IT" altLang="en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T" altLang="en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3. Self-regulating adaptive control systems using AI for dynamic environment response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T" altLang="en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4. Cybernetic feedback loops in autonomous systems for predictive error correction</a:t>
            </a:r>
            <a:endParaRPr kumimoji="0" lang="en-IT" altLang="en-IT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T" altLang="en-IT" sz="14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T" altLang="en-IT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Biological &amp; Hybrid Systems</a:t>
            </a:r>
            <a:r>
              <a:rPr kumimoji="0" lang="en-IT" altLang="en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T" altLang="en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5. Biocybernetics — modeling and augmenting biological regulatory systems (immune, nervous, endocrine) with computational intelligence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T" altLang="en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6. Hybrid biological-artificial neural networks for cognitive augmentation</a:t>
            </a:r>
            <a:endParaRPr kumimoji="0" lang="en-IT" altLang="en-IT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T" altLang="en-IT" sz="14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T" altLang="en-IT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Social &amp; Organisational Cybernetics</a:t>
            </a:r>
            <a:r>
              <a:rPr kumimoji="0" lang="en-IT" altLang="en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T" altLang="en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7. Second-order cybernetics in complex social systems — how organizations self-regulate and adapt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T" altLang="en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8. Cybernetic models for collective intelligence and swarm decision-making</a:t>
            </a:r>
            <a:endParaRPr kumimoji="0" lang="en-IT" altLang="en-IT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T" altLang="en-IT" sz="14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T" altLang="en-IT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Ethics &amp; Governance</a:t>
            </a:r>
            <a:r>
              <a:rPr kumimoji="0" lang="en-IT" altLang="en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T" altLang="en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9. Ethical boundaries of human enhancement through cybernetic augmentation — identity, agency, and consent</a:t>
            </a:r>
            <a:endParaRPr kumimoji="0" lang="en-IT" altLang="en-IT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T" altLang="en-IT" sz="14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T" altLang="en-IT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Emerging Frontiers</a:t>
            </a:r>
            <a:r>
              <a:rPr kumimoji="0" lang="en-IT" altLang="en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T" altLang="en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10. Quantum cybernetics — applying quantum computing principles to feedback and control in intelligent systems</a:t>
            </a:r>
            <a:endParaRPr kumimoji="0" lang="en-IT" altLang="en-IT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33315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972600"/>
            <a:ext cx="8229600" cy="1143000"/>
          </a:xfrm>
        </p:spPr>
        <p:txBody>
          <a:bodyPr/>
          <a:lstStyle/>
          <a:p>
            <a:r>
              <a:rPr lang="en-GB" b="1" dirty="0"/>
              <a:t>Scientific/Technical Program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2206626"/>
            <a:ext cx="8229600" cy="4452575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Planning :</a:t>
            </a:r>
          </a:p>
          <a:p>
            <a:pPr lvl="1"/>
            <a:r>
              <a:rPr lang="en-GB" sz="2353" dirty="0"/>
              <a:t>3 Keynote speakers</a:t>
            </a:r>
          </a:p>
          <a:p>
            <a:pPr lvl="1"/>
            <a:r>
              <a:rPr lang="en-GB" sz="2353" dirty="0"/>
              <a:t>3 Full-day/Half-day Workshops</a:t>
            </a:r>
          </a:p>
          <a:p>
            <a:pPr lvl="1"/>
            <a:r>
              <a:rPr lang="en-GB" sz="2353" dirty="0"/>
              <a:t>2 Tutorials (two tutorials on hot topics on the conference theme)</a:t>
            </a:r>
          </a:p>
          <a:p>
            <a:pPr lvl="1"/>
            <a:r>
              <a:rPr lang="en-GB" sz="2353" dirty="0"/>
              <a:t>5 Special Sessions</a:t>
            </a:r>
          </a:p>
          <a:p>
            <a:pPr lvl="1"/>
            <a:r>
              <a:rPr lang="en-GB" sz="2353" dirty="0"/>
              <a:t>1 Panel on Industry/Research hot issues (Industry Sponsors)</a:t>
            </a:r>
          </a:p>
          <a:p>
            <a:pPr lvl="1"/>
            <a:r>
              <a:rPr lang="en-GB" sz="2353" dirty="0" err="1"/>
              <a:t>Poster+Demo</a:t>
            </a:r>
            <a:r>
              <a:rPr lang="en-GB" sz="2353" dirty="0"/>
              <a:t> sessions during coffee breaks</a:t>
            </a:r>
          </a:p>
          <a:p>
            <a:pPr lvl="1"/>
            <a:r>
              <a:rPr lang="en-GB" sz="2353" dirty="0"/>
              <a:t>Special Issues in ISI-impacted Journals/Scopus-impacted Series</a:t>
            </a:r>
          </a:p>
          <a:p>
            <a:pPr lvl="1"/>
            <a:r>
              <a:rPr lang="en-GB" sz="2353" dirty="0"/>
              <a:t>PhD Forum</a:t>
            </a:r>
          </a:p>
          <a:p>
            <a:pPr lvl="1"/>
            <a:r>
              <a:rPr lang="en-GB" sz="2353" dirty="0"/>
              <a:t>Lunch meeting space for </a:t>
            </a:r>
            <a:r>
              <a:rPr lang="en-GB" sz="2353" i="1" dirty="0"/>
              <a:t>Women in Cybernetics </a:t>
            </a:r>
            <a:r>
              <a:rPr lang="en-GB" sz="2353" dirty="0"/>
              <a:t>social/networking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71A24AC-2665-DF12-6EEA-2A62FE719CC9}"/>
              </a:ext>
            </a:extLst>
          </p:cNvPr>
          <p:cNvGrpSpPr/>
          <p:nvPr/>
        </p:nvGrpSpPr>
        <p:grpSpPr>
          <a:xfrm>
            <a:off x="10079" y="67712"/>
            <a:ext cx="9133921" cy="1152727"/>
            <a:chOff x="10079" y="67712"/>
            <a:chExt cx="9133921" cy="1152727"/>
          </a:xfrm>
        </p:grpSpPr>
        <p:pic>
          <p:nvPicPr>
            <p:cNvPr id="8" name="Immagine 4">
              <a:hlinkClick r:id="rId2"/>
              <a:extLst>
                <a:ext uri="{FF2B5EF4-FFF2-40B4-BE49-F238E27FC236}">
                  <a16:creationId xmlns:a16="http://schemas.microsoft.com/office/drawing/2014/main" id="{7C85E951-F313-0418-548A-8F0CFD16B1B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86600" y="67712"/>
              <a:ext cx="2057400" cy="1028700"/>
            </a:xfrm>
            <a:prstGeom prst="rect">
              <a:avLst/>
            </a:prstGeom>
          </p:spPr>
        </p:pic>
        <p:pic>
          <p:nvPicPr>
            <p:cNvPr id="9" name="Immagine 6">
              <a:hlinkClick r:id="rId4"/>
              <a:extLst>
                <a:ext uri="{FF2B5EF4-FFF2-40B4-BE49-F238E27FC236}">
                  <a16:creationId xmlns:a16="http://schemas.microsoft.com/office/drawing/2014/main" id="{7502764D-2785-1211-D4F7-AB207027C5B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240694" y="174439"/>
              <a:ext cx="838200" cy="838200"/>
            </a:xfrm>
            <a:prstGeom prst="rect">
              <a:avLst/>
            </a:prstGeom>
          </p:spPr>
        </p:pic>
        <p:sp>
          <p:nvSpPr>
            <p:cNvPr id="12" name="CasellaDiTesto 8">
              <a:extLst>
                <a:ext uri="{FF2B5EF4-FFF2-40B4-BE49-F238E27FC236}">
                  <a16:creationId xmlns:a16="http://schemas.microsoft.com/office/drawing/2014/main" id="{F2E28236-45A9-FE9B-EAF6-1C2F15B440F5}"/>
                </a:ext>
              </a:extLst>
            </p:cNvPr>
            <p:cNvSpPr txBox="1"/>
            <p:nvPr/>
          </p:nvSpPr>
          <p:spPr>
            <a:xfrm>
              <a:off x="5088833" y="280456"/>
              <a:ext cx="25908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 b="1" dirty="0"/>
                <a:t>SPEME Lab: </a:t>
              </a:r>
              <a:r>
                <a:rPr lang="it-IT" sz="1200" b="1" dirty="0">
                  <a:hlinkClick r:id="rId6"/>
                </a:rPr>
                <a:t>http://speme.dimes.unical.it/</a:t>
              </a:r>
              <a:endParaRPr lang="it-IT" sz="1200" b="1" dirty="0"/>
            </a:p>
            <a:p>
              <a:r>
                <a:rPr lang="it-IT" sz="1200" b="1" dirty="0"/>
                <a:t> </a:t>
              </a:r>
            </a:p>
          </p:txBody>
        </p:sp>
        <p:sp>
          <p:nvSpPr>
            <p:cNvPr id="13" name="CasellaDiTesto 9">
              <a:extLst>
                <a:ext uri="{FF2B5EF4-FFF2-40B4-BE49-F238E27FC236}">
                  <a16:creationId xmlns:a16="http://schemas.microsoft.com/office/drawing/2014/main" id="{9E548C86-1059-93D9-DC01-238C883C1067}"/>
                </a:ext>
              </a:extLst>
            </p:cNvPr>
            <p:cNvSpPr txBox="1"/>
            <p:nvPr/>
          </p:nvSpPr>
          <p:spPr>
            <a:xfrm>
              <a:off x="7076521" y="943440"/>
              <a:ext cx="20574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 b="1" dirty="0"/>
                <a:t>http://www.sensyscal.com</a:t>
              </a: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7ECE460F-6C2A-6954-8DBD-375C35B5E8E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79" y="204256"/>
              <a:ext cx="2356347" cy="89597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Picture 2" descr="Brand Materials - IEEE SMC">
              <a:extLst>
                <a:ext uri="{FF2B5EF4-FFF2-40B4-BE49-F238E27FC236}">
                  <a16:creationId xmlns:a16="http://schemas.microsoft.com/office/drawing/2014/main" id="{C30A6F15-CD2A-306D-7464-6D4A96E123C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85076" y="286006"/>
              <a:ext cx="1917700" cy="5753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4824775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972600"/>
            <a:ext cx="8229600" cy="1143000"/>
          </a:xfrm>
        </p:spPr>
        <p:txBody>
          <a:bodyPr/>
          <a:lstStyle/>
          <a:p>
            <a:r>
              <a:rPr lang="en-GB" b="1" dirty="0"/>
              <a:t>Details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2206626"/>
            <a:ext cx="8229600" cy="445257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b="1" dirty="0"/>
              <a:t>Important Dates</a:t>
            </a:r>
            <a:endParaRPr lang="en-GB" dirty="0">
              <a:effectLst/>
              <a:latin typeface="Calibri" panose="020F0502020204030204" pitchFamily="34" charset="0"/>
            </a:endParaRPr>
          </a:p>
          <a:p>
            <a:r>
              <a:rPr lang="en-GB" dirty="0">
                <a:effectLst/>
                <a:latin typeface="Calibri" panose="020F0502020204030204" pitchFamily="34" charset="0"/>
              </a:rPr>
              <a:t>Full Paper Submission: January 15, 2027 </a:t>
            </a:r>
          </a:p>
          <a:p>
            <a:r>
              <a:rPr lang="en-GB" dirty="0">
                <a:effectLst/>
                <a:latin typeface="Calibri" panose="020F0502020204030204" pitchFamily="34" charset="0"/>
              </a:rPr>
              <a:t>Acceptance Notice: March 1, 2027</a:t>
            </a:r>
          </a:p>
          <a:p>
            <a:r>
              <a:rPr lang="en-GB" dirty="0">
                <a:effectLst/>
                <a:latin typeface="Calibri" panose="020F0502020204030204" pitchFamily="34" charset="0"/>
              </a:rPr>
              <a:t>Camera Ready Submission: </a:t>
            </a:r>
            <a:r>
              <a:rPr lang="en-GB" dirty="0">
                <a:latin typeface="Calibri" panose="020F0502020204030204" pitchFamily="34" charset="0"/>
              </a:rPr>
              <a:t>M</a:t>
            </a:r>
            <a:r>
              <a:rPr lang="en-GB" dirty="0">
                <a:effectLst/>
                <a:latin typeface="Calibri" panose="020F0502020204030204" pitchFamily="34" charset="0"/>
              </a:rPr>
              <a:t>arch 31, 2027</a:t>
            </a:r>
          </a:p>
          <a:p>
            <a:r>
              <a:rPr lang="en-GB" dirty="0">
                <a:effectLst/>
                <a:latin typeface="Calibri" panose="020F0502020204030204" pitchFamily="34" charset="0"/>
              </a:rPr>
              <a:t>Early Bird Registration: </a:t>
            </a:r>
            <a:r>
              <a:rPr lang="en-GB" dirty="0">
                <a:latin typeface="Calibri" panose="020F0502020204030204" pitchFamily="34" charset="0"/>
              </a:rPr>
              <a:t>March 31, 2027</a:t>
            </a:r>
          </a:p>
          <a:p>
            <a:pPr marL="0" indent="0">
              <a:buNone/>
            </a:pPr>
            <a:endParaRPr lang="en-GB" b="1" dirty="0">
              <a:effectLst/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GB" b="1" dirty="0">
                <a:effectLst/>
                <a:latin typeface="Calibri" panose="020F0502020204030204" pitchFamily="34" charset="0"/>
              </a:rPr>
              <a:t>PAPER TYPES: </a:t>
            </a:r>
            <a:r>
              <a:rPr lang="en-GB" dirty="0">
                <a:effectLst/>
                <a:latin typeface="Calibri" panose="020F0502020204030204" pitchFamily="34" charset="0"/>
              </a:rPr>
              <a:t>Full Paper: 6 pages; Short Paper: 4 pages; Poster/Demo papers: 2 pages.</a:t>
            </a:r>
          </a:p>
          <a:p>
            <a:pPr marL="0" indent="0">
              <a:buNone/>
            </a:pPr>
            <a:endParaRPr lang="en-GB" dirty="0"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GB" b="1" dirty="0">
                <a:effectLst/>
                <a:latin typeface="Calibri" panose="020F0502020204030204" pitchFamily="34" charset="0"/>
              </a:rPr>
              <a:t>Proceedings with IEEE </a:t>
            </a:r>
            <a:r>
              <a:rPr lang="en-GB" b="1" dirty="0" err="1">
                <a:effectLst/>
                <a:latin typeface="Calibri" panose="020F0502020204030204" pitchFamily="34" charset="0"/>
              </a:rPr>
              <a:t>XPlore</a:t>
            </a:r>
            <a:endParaRPr lang="en-GB" dirty="0">
              <a:effectLst/>
              <a:latin typeface="Calibri" panose="020F050202020403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2C1395E-E355-140B-6DF8-9AEAA3364AA6}"/>
              </a:ext>
            </a:extLst>
          </p:cNvPr>
          <p:cNvGrpSpPr/>
          <p:nvPr/>
        </p:nvGrpSpPr>
        <p:grpSpPr>
          <a:xfrm>
            <a:off x="10079" y="67712"/>
            <a:ext cx="9133921" cy="1152727"/>
            <a:chOff x="10079" y="67712"/>
            <a:chExt cx="9133921" cy="1152727"/>
          </a:xfrm>
        </p:grpSpPr>
        <p:pic>
          <p:nvPicPr>
            <p:cNvPr id="8" name="Immagine 4">
              <a:hlinkClick r:id="rId2"/>
              <a:extLst>
                <a:ext uri="{FF2B5EF4-FFF2-40B4-BE49-F238E27FC236}">
                  <a16:creationId xmlns:a16="http://schemas.microsoft.com/office/drawing/2014/main" id="{3B33A8AB-F365-662F-79BC-7315246C80E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86600" y="67712"/>
              <a:ext cx="2057400" cy="1028700"/>
            </a:xfrm>
            <a:prstGeom prst="rect">
              <a:avLst/>
            </a:prstGeom>
          </p:spPr>
        </p:pic>
        <p:pic>
          <p:nvPicPr>
            <p:cNvPr id="9" name="Immagine 6">
              <a:hlinkClick r:id="rId4"/>
              <a:extLst>
                <a:ext uri="{FF2B5EF4-FFF2-40B4-BE49-F238E27FC236}">
                  <a16:creationId xmlns:a16="http://schemas.microsoft.com/office/drawing/2014/main" id="{0B8D5559-7428-C5D3-CEE6-6A30650578A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240694" y="174439"/>
              <a:ext cx="838200" cy="838200"/>
            </a:xfrm>
            <a:prstGeom prst="rect">
              <a:avLst/>
            </a:prstGeom>
          </p:spPr>
        </p:pic>
        <p:sp>
          <p:nvSpPr>
            <p:cNvPr id="12" name="CasellaDiTesto 8">
              <a:extLst>
                <a:ext uri="{FF2B5EF4-FFF2-40B4-BE49-F238E27FC236}">
                  <a16:creationId xmlns:a16="http://schemas.microsoft.com/office/drawing/2014/main" id="{C7BDA53F-89CF-1FBC-1457-749FC056AFC8}"/>
                </a:ext>
              </a:extLst>
            </p:cNvPr>
            <p:cNvSpPr txBox="1"/>
            <p:nvPr/>
          </p:nvSpPr>
          <p:spPr>
            <a:xfrm>
              <a:off x="5088833" y="280456"/>
              <a:ext cx="25908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 b="1" dirty="0"/>
                <a:t>SPEME Lab: </a:t>
              </a:r>
              <a:r>
                <a:rPr lang="it-IT" sz="1200" b="1" dirty="0">
                  <a:hlinkClick r:id="rId6"/>
                </a:rPr>
                <a:t>http://speme.dimes.unical.it/</a:t>
              </a:r>
              <a:endParaRPr lang="it-IT" sz="1200" b="1" dirty="0"/>
            </a:p>
            <a:p>
              <a:r>
                <a:rPr lang="it-IT" sz="1200" b="1" dirty="0"/>
                <a:t> </a:t>
              </a:r>
            </a:p>
          </p:txBody>
        </p:sp>
        <p:sp>
          <p:nvSpPr>
            <p:cNvPr id="13" name="CasellaDiTesto 9">
              <a:extLst>
                <a:ext uri="{FF2B5EF4-FFF2-40B4-BE49-F238E27FC236}">
                  <a16:creationId xmlns:a16="http://schemas.microsoft.com/office/drawing/2014/main" id="{AD499C5F-53AE-7230-771B-4A5800682091}"/>
                </a:ext>
              </a:extLst>
            </p:cNvPr>
            <p:cNvSpPr txBox="1"/>
            <p:nvPr/>
          </p:nvSpPr>
          <p:spPr>
            <a:xfrm>
              <a:off x="7076521" y="943440"/>
              <a:ext cx="20574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 b="1" dirty="0"/>
                <a:t>http://www.sensyscal.com</a:t>
              </a: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2C4F16E9-C6D0-14D1-4E3B-082D5869AD7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79" y="204256"/>
              <a:ext cx="2356347" cy="89597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Picture 2" descr="Brand Materials - IEEE SMC">
              <a:extLst>
                <a:ext uri="{FF2B5EF4-FFF2-40B4-BE49-F238E27FC236}">
                  <a16:creationId xmlns:a16="http://schemas.microsoft.com/office/drawing/2014/main" id="{59DBA36D-EBB5-8540-4F14-4B02615AA66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85076" y="286006"/>
              <a:ext cx="1917700" cy="5753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3948137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748248"/>
            <a:ext cx="8229600" cy="1738920"/>
          </a:xfrm>
        </p:spPr>
        <p:txBody>
          <a:bodyPr>
            <a:noAutofit/>
          </a:bodyPr>
          <a:lstStyle/>
          <a:p>
            <a:r>
              <a:rPr lang="it-IT" sz="3200" b="1" dirty="0"/>
              <a:t>Conference </a:t>
            </a:r>
            <a:r>
              <a:rPr lang="it-IT" sz="3200" b="1" dirty="0" err="1"/>
              <a:t>Venue</a:t>
            </a:r>
            <a:br>
              <a:rPr lang="it-IT" sz="3200" b="1" dirty="0"/>
            </a:br>
            <a:r>
              <a:rPr lang="it-IT" sz="3200" b="1" dirty="0"/>
              <a:t>University of Calabria Conference Center</a:t>
            </a:r>
            <a:br>
              <a:rPr lang="it-IT" sz="3200" b="1" dirty="0"/>
            </a:br>
            <a:r>
              <a:rPr lang="it-IT" sz="1800" b="1" dirty="0"/>
              <a:t>https://</a:t>
            </a:r>
            <a:r>
              <a:rPr lang="it-IT" sz="1800" b="1" dirty="0" err="1"/>
              <a:t>www.unical.it</a:t>
            </a:r>
            <a:r>
              <a:rPr lang="it-IT" sz="1800" b="1" dirty="0"/>
              <a:t>/campus/vivere-il-campus/centro-congressi/</a:t>
            </a:r>
            <a:endParaRPr lang="it-IT" sz="3200" b="1" dirty="0"/>
          </a:p>
        </p:txBody>
      </p:sp>
      <p:pic>
        <p:nvPicPr>
          <p:cNvPr id="1026" name="Picture 2" descr="Aula Magna Unical - Rende Online">
            <a:extLst>
              <a:ext uri="{FF2B5EF4-FFF2-40B4-BE49-F238E27FC236}">
                <a16:creationId xmlns:a16="http://schemas.microsoft.com/office/drawing/2014/main" id="{8F62151B-AC48-16F6-EC44-01D022C3A1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686" y="2346453"/>
            <a:ext cx="3289300" cy="2463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ll'Unical due giornate di incontri sul tema del'innovazione sociale -  QuiCosenza.it">
            <a:extLst>
              <a:ext uri="{FF2B5EF4-FFF2-40B4-BE49-F238E27FC236}">
                <a16:creationId xmlns:a16="http://schemas.microsoft.com/office/drawing/2014/main" id="{20B596F2-AD2C-9421-7AB4-8CC1DAEDEE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8173" y="2346452"/>
            <a:ext cx="5231573" cy="2463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32B1BB7-D427-90D0-1CAB-C481D9AEC560}"/>
              </a:ext>
            </a:extLst>
          </p:cNvPr>
          <p:cNvSpPr txBox="1"/>
          <p:nvPr/>
        </p:nvSpPr>
        <p:spPr>
          <a:xfrm>
            <a:off x="281686" y="6493560"/>
            <a:ext cx="8628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T" dirty="0"/>
              <a:t>15 mins by train from the Tyrrenian coast: the beautiful town of Paola</a:t>
            </a:r>
          </a:p>
        </p:txBody>
      </p:sp>
      <p:pic>
        <p:nvPicPr>
          <p:cNvPr id="1032" name="Picture 8" descr="Paola (CS): cosa vedere e fare, dove andare, idee di viaggio">
            <a:extLst>
              <a:ext uri="{FF2B5EF4-FFF2-40B4-BE49-F238E27FC236}">
                <a16:creationId xmlns:a16="http://schemas.microsoft.com/office/drawing/2014/main" id="{437AFC71-884C-2A7A-3171-8E449BAEED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" y="4918028"/>
            <a:ext cx="2900426" cy="1624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Paola | In visita alla città di San Francesco | Borghi Storici">
            <a:extLst>
              <a:ext uri="{FF2B5EF4-FFF2-40B4-BE49-F238E27FC236}">
                <a16:creationId xmlns:a16="http://schemas.microsoft.com/office/drawing/2014/main" id="{33424685-97A6-5B6F-92AE-8A1D547881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7775" y="4918027"/>
            <a:ext cx="2440796" cy="1624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Paola: eventi, info e cosa vedere - Riviera dei Cedri">
            <a:extLst>
              <a:ext uri="{FF2B5EF4-FFF2-40B4-BE49-F238E27FC236}">
                <a16:creationId xmlns:a16="http://schemas.microsoft.com/office/drawing/2014/main" id="{06538D3C-03DD-D1BA-8FBD-C18FA7A5FA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5804" y="4902261"/>
            <a:ext cx="2440796" cy="1624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Lungomare di Paola | Calabria Film Commission">
            <a:extLst>
              <a:ext uri="{FF2B5EF4-FFF2-40B4-BE49-F238E27FC236}">
                <a16:creationId xmlns:a16="http://schemas.microsoft.com/office/drawing/2014/main" id="{607C7378-C51D-1E1C-28B1-2DDD65C451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6604" y="4901557"/>
            <a:ext cx="2147396" cy="1608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AA722A98-EF38-5E18-1C4D-403AFEE92714}"/>
              </a:ext>
            </a:extLst>
          </p:cNvPr>
          <p:cNvGrpSpPr/>
          <p:nvPr/>
        </p:nvGrpSpPr>
        <p:grpSpPr>
          <a:xfrm>
            <a:off x="10079" y="67712"/>
            <a:ext cx="9133921" cy="1152727"/>
            <a:chOff x="10079" y="67712"/>
            <a:chExt cx="9133921" cy="1152727"/>
          </a:xfrm>
        </p:grpSpPr>
        <p:pic>
          <p:nvPicPr>
            <p:cNvPr id="8" name="Immagine 4">
              <a:hlinkClick r:id="rId8"/>
              <a:extLst>
                <a:ext uri="{FF2B5EF4-FFF2-40B4-BE49-F238E27FC236}">
                  <a16:creationId xmlns:a16="http://schemas.microsoft.com/office/drawing/2014/main" id="{AF0B9FD0-9A42-89AC-3F92-2752D66E475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086600" y="67712"/>
              <a:ext cx="2057400" cy="1028700"/>
            </a:xfrm>
            <a:prstGeom prst="rect">
              <a:avLst/>
            </a:prstGeom>
          </p:spPr>
        </p:pic>
        <p:pic>
          <p:nvPicPr>
            <p:cNvPr id="9" name="Immagine 6">
              <a:hlinkClick r:id="rId10"/>
              <a:extLst>
                <a:ext uri="{FF2B5EF4-FFF2-40B4-BE49-F238E27FC236}">
                  <a16:creationId xmlns:a16="http://schemas.microsoft.com/office/drawing/2014/main" id="{D8300B1B-8995-9D7D-EAF1-139E8C68DD9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240694" y="174439"/>
              <a:ext cx="838200" cy="838200"/>
            </a:xfrm>
            <a:prstGeom prst="rect">
              <a:avLst/>
            </a:prstGeom>
          </p:spPr>
        </p:pic>
        <p:sp>
          <p:nvSpPr>
            <p:cNvPr id="11" name="CasellaDiTesto 8">
              <a:extLst>
                <a:ext uri="{FF2B5EF4-FFF2-40B4-BE49-F238E27FC236}">
                  <a16:creationId xmlns:a16="http://schemas.microsoft.com/office/drawing/2014/main" id="{D4B731AC-67AA-2A19-BA33-618F68D60B98}"/>
                </a:ext>
              </a:extLst>
            </p:cNvPr>
            <p:cNvSpPr txBox="1"/>
            <p:nvPr/>
          </p:nvSpPr>
          <p:spPr>
            <a:xfrm>
              <a:off x="5088833" y="280456"/>
              <a:ext cx="25908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 b="1" dirty="0"/>
                <a:t>SPEME Lab: </a:t>
              </a:r>
              <a:r>
                <a:rPr lang="it-IT" sz="1200" b="1" dirty="0">
                  <a:hlinkClick r:id="rId12"/>
                </a:rPr>
                <a:t>http://speme.dimes.unical.it/</a:t>
              </a:r>
              <a:endParaRPr lang="it-IT" sz="1200" b="1" dirty="0"/>
            </a:p>
            <a:p>
              <a:r>
                <a:rPr lang="it-IT" sz="1200" b="1" dirty="0"/>
                <a:t> </a:t>
              </a:r>
            </a:p>
          </p:txBody>
        </p:sp>
        <p:sp>
          <p:nvSpPr>
            <p:cNvPr id="15" name="CasellaDiTesto 9">
              <a:extLst>
                <a:ext uri="{FF2B5EF4-FFF2-40B4-BE49-F238E27FC236}">
                  <a16:creationId xmlns:a16="http://schemas.microsoft.com/office/drawing/2014/main" id="{24299A67-C56E-048D-A56D-A5CAA0695B0F}"/>
                </a:ext>
              </a:extLst>
            </p:cNvPr>
            <p:cNvSpPr txBox="1"/>
            <p:nvPr/>
          </p:nvSpPr>
          <p:spPr>
            <a:xfrm>
              <a:off x="7076521" y="943440"/>
              <a:ext cx="20574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 b="1" dirty="0"/>
                <a:t>http://www.sensyscal.com</a:t>
              </a: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54716EF-4454-EE9E-93C9-64BA38FC9F4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79" y="204256"/>
              <a:ext cx="2356347" cy="89597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" name="Picture 2" descr="Brand Materials - IEEE SMC">
              <a:extLst>
                <a:ext uri="{FF2B5EF4-FFF2-40B4-BE49-F238E27FC236}">
                  <a16:creationId xmlns:a16="http://schemas.microsoft.com/office/drawing/2014/main" id="{8388A552-1757-32B4-F12C-52CC3A1779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85076" y="286006"/>
              <a:ext cx="1917700" cy="5753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972600"/>
            <a:ext cx="8229600" cy="1143000"/>
          </a:xfrm>
        </p:spPr>
        <p:txBody>
          <a:bodyPr>
            <a:normAutofit/>
          </a:bodyPr>
          <a:lstStyle/>
          <a:p>
            <a:r>
              <a:rPr lang="en-GB" sz="4000" b="1" dirty="0"/>
              <a:t>Transportation: Reaching the Venue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47261" y="1972140"/>
            <a:ext cx="8229600" cy="4452575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800" b="1" dirty="0"/>
              <a:t>The conference venue served by the International Airport of </a:t>
            </a:r>
            <a:r>
              <a:rPr lang="en-US" sz="1800" b="1" dirty="0" err="1"/>
              <a:t>Lamezia</a:t>
            </a:r>
            <a:r>
              <a:rPr lang="en-US" sz="1800" b="1" dirty="0"/>
              <a:t> </a:t>
            </a:r>
            <a:r>
              <a:rPr lang="en-US" sz="1800" b="1" dirty="0" err="1"/>
              <a:t>Terme</a:t>
            </a:r>
            <a:endParaRPr lang="it-IT" sz="1800" dirty="0"/>
          </a:p>
          <a:p>
            <a:pPr>
              <a:buNone/>
            </a:pPr>
            <a:r>
              <a:rPr lang="it-IT" sz="1800" dirty="0">
                <a:hlinkClick r:id="rId2"/>
              </a:rPr>
              <a:t>https://lameziaairport.com/</a:t>
            </a:r>
            <a:endParaRPr lang="en-US" sz="1800" dirty="0"/>
          </a:p>
          <a:p>
            <a:pPr>
              <a:buNone/>
            </a:pPr>
            <a:r>
              <a:rPr lang="en-US" sz="1800" dirty="0"/>
              <a:t>International flights to/from:</a:t>
            </a:r>
            <a:endParaRPr lang="it-IT" sz="1800" dirty="0"/>
          </a:p>
          <a:p>
            <a:r>
              <a:rPr lang="en-US" sz="1800" dirty="0"/>
              <a:t>For international travelers the </a:t>
            </a:r>
            <a:r>
              <a:rPr lang="en-US" sz="1800" b="1" dirty="0"/>
              <a:t>Best Hub</a:t>
            </a:r>
            <a:r>
              <a:rPr lang="en-US" sz="1800" dirty="0"/>
              <a:t> to change the flight for </a:t>
            </a:r>
            <a:r>
              <a:rPr lang="en-US" sz="1800" dirty="0" err="1"/>
              <a:t>Lamezia</a:t>
            </a:r>
            <a:r>
              <a:rPr lang="en-US" sz="1800" dirty="0"/>
              <a:t> Terme is usually </a:t>
            </a:r>
            <a:r>
              <a:rPr lang="en-US" sz="1800" b="1" dirty="0"/>
              <a:t>Rome Fiumicino </a:t>
            </a:r>
            <a:r>
              <a:rPr lang="en-US" sz="1800" dirty="0"/>
              <a:t>(as there are 5 flights daily from Rome to </a:t>
            </a:r>
            <a:r>
              <a:rPr lang="en-US" sz="1800" dirty="0" err="1"/>
              <a:t>Lamezia</a:t>
            </a:r>
            <a:r>
              <a:rPr lang="en-US" sz="1800" dirty="0"/>
              <a:t> T.) and </a:t>
            </a:r>
            <a:r>
              <a:rPr lang="en-US" sz="1800" b="1" dirty="0"/>
              <a:t>Milan Linate</a:t>
            </a:r>
            <a:r>
              <a:rPr lang="en-US" sz="1800" dirty="0"/>
              <a:t>. </a:t>
            </a:r>
            <a:r>
              <a:rPr lang="en-US" sz="1800" i="1" dirty="0"/>
              <a:t>We strongly advise to fly to Rome!</a:t>
            </a:r>
            <a:endParaRPr lang="en-US" sz="1800" dirty="0"/>
          </a:p>
          <a:p>
            <a:r>
              <a:rPr lang="it-IT" sz="1800" b="1" dirty="0"/>
              <a:t>International </a:t>
            </a:r>
            <a:r>
              <a:rPr lang="it-IT" sz="1800" b="1" dirty="0" err="1"/>
              <a:t>Flights</a:t>
            </a:r>
            <a:r>
              <a:rPr lang="it-IT" sz="1800" b="1" dirty="0"/>
              <a:t> from</a:t>
            </a:r>
            <a:r>
              <a:rPr lang="it-IT" sz="1800" dirty="0"/>
              <a:t>: </a:t>
            </a:r>
            <a:r>
              <a:rPr lang="it-IT" sz="1800" dirty="0" err="1"/>
              <a:t>Dusseldorf</a:t>
            </a:r>
            <a:r>
              <a:rPr lang="it-IT" sz="1800" dirty="0"/>
              <a:t>, Frankfurt, Stuttgart, ALTENRHEIN, London Stansted, Zurich, </a:t>
            </a:r>
            <a:r>
              <a:rPr lang="it-IT" sz="1800" dirty="0" err="1"/>
              <a:t>Prague</a:t>
            </a:r>
            <a:r>
              <a:rPr lang="it-IT" sz="1800" dirty="0"/>
              <a:t>, Bruxelles, Geneve, etc.</a:t>
            </a:r>
          </a:p>
          <a:p>
            <a:r>
              <a:rPr lang="it-IT" sz="1800" b="1" dirty="0" err="1"/>
              <a:t>Domestic</a:t>
            </a:r>
            <a:r>
              <a:rPr lang="it-IT" sz="1800" b="1" dirty="0"/>
              <a:t> </a:t>
            </a:r>
            <a:r>
              <a:rPr lang="it-IT" sz="1800" b="1" dirty="0" err="1"/>
              <a:t>Flights</a:t>
            </a:r>
            <a:r>
              <a:rPr lang="it-IT" sz="1800" b="1" dirty="0"/>
              <a:t> from: </a:t>
            </a:r>
            <a:r>
              <a:rPr lang="it-IT" sz="1800" dirty="0"/>
              <a:t>Rome, Milan, Bologna, Turin, Verona, Bergamo.</a:t>
            </a:r>
          </a:p>
          <a:p>
            <a:pPr marL="0" indent="0">
              <a:buNone/>
            </a:pPr>
            <a:r>
              <a:rPr lang="it-IT" sz="1800" i="1" dirty="0" err="1"/>
              <a:t>Busses</a:t>
            </a:r>
            <a:r>
              <a:rPr lang="it-IT" sz="1800" i="1" dirty="0"/>
              <a:t> and </a:t>
            </a:r>
            <a:r>
              <a:rPr lang="it-IT" sz="1800" i="1" dirty="0" err="1"/>
              <a:t>Trains</a:t>
            </a:r>
            <a:r>
              <a:rPr lang="it-IT" sz="1800" i="1" dirty="0"/>
              <a:t>:</a:t>
            </a:r>
          </a:p>
          <a:p>
            <a:r>
              <a:rPr lang="en-US" sz="1800" dirty="0"/>
              <a:t>Cheap and </a:t>
            </a:r>
            <a:r>
              <a:rPr lang="en-US" sz="1800" b="1" dirty="0"/>
              <a:t>regular bus service </a:t>
            </a:r>
            <a:r>
              <a:rPr lang="en-US" sz="1800" dirty="0"/>
              <a:t>is available from the Airport to Cosenza</a:t>
            </a:r>
          </a:p>
          <a:p>
            <a:r>
              <a:rPr lang="en-US" sz="1800" dirty="0"/>
              <a:t>A </a:t>
            </a:r>
            <a:r>
              <a:rPr lang="en-US" sz="1800" b="1" dirty="0"/>
              <a:t>taxy-like service </a:t>
            </a:r>
            <a:r>
              <a:rPr lang="en-US" sz="1800" dirty="0"/>
              <a:t>could be reserved to reach the hotel/conference venue from the Lamezia Terme Airport (preferrable). </a:t>
            </a:r>
          </a:p>
          <a:p>
            <a:r>
              <a:rPr lang="en-US" sz="1800" b="1" dirty="0"/>
              <a:t>Trains</a:t>
            </a:r>
            <a:r>
              <a:rPr lang="en-US" sz="1800" dirty="0"/>
              <a:t>: from Rome to Cosenza using “</a:t>
            </a:r>
            <a:r>
              <a:rPr lang="en-US" sz="1800" dirty="0" err="1"/>
              <a:t>Freccia</a:t>
            </a:r>
            <a:r>
              <a:rPr lang="en-US" sz="1800" dirty="0"/>
              <a:t> </a:t>
            </a:r>
            <a:r>
              <a:rPr lang="en-US" sz="1800" dirty="0" err="1"/>
              <a:t>Argento</a:t>
            </a:r>
            <a:r>
              <a:rPr lang="en-US" sz="1800" dirty="0"/>
              <a:t>” or “</a:t>
            </a:r>
            <a:r>
              <a:rPr lang="en-US" sz="1800" dirty="0" err="1"/>
              <a:t>Freccia</a:t>
            </a:r>
            <a:r>
              <a:rPr lang="en-US" sz="1800" dirty="0"/>
              <a:t> Rossa”, 3.5-4 hours. Change station is Paola for Cosenza, stop station is Castiglione </a:t>
            </a:r>
            <a:r>
              <a:rPr lang="en-US" sz="1800" dirty="0" err="1"/>
              <a:t>Cosentino</a:t>
            </a:r>
            <a:r>
              <a:rPr lang="en-US" sz="1800" dirty="0"/>
              <a:t>.</a:t>
            </a:r>
            <a:endParaRPr lang="it-IT" sz="1800" dirty="0"/>
          </a:p>
        </p:txBody>
      </p:sp>
      <p:pic>
        <p:nvPicPr>
          <p:cNvPr id="5" name="Immagine 4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67712"/>
            <a:ext cx="2057400" cy="1028700"/>
          </a:xfrm>
          <a:prstGeom prst="rect">
            <a:avLst/>
          </a:prstGeom>
        </p:spPr>
      </p:pic>
      <p:pic>
        <p:nvPicPr>
          <p:cNvPr id="7" name="Immagine 6">
            <a:hlinkClick r:id="rId5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0" y="76200"/>
            <a:ext cx="838200" cy="838200"/>
          </a:xfrm>
          <a:prstGeom prst="rect">
            <a:avLst/>
          </a:prstGeom>
        </p:spPr>
      </p:pic>
      <p:sp>
        <p:nvSpPr>
          <p:cNvPr id="10" name="CasellaDiTesto 9"/>
          <p:cNvSpPr txBox="1"/>
          <p:nvPr/>
        </p:nvSpPr>
        <p:spPr>
          <a:xfrm>
            <a:off x="7076521" y="943440"/>
            <a:ext cx="2057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b="1" dirty="0"/>
              <a:t>http://www.sensyscal.com</a:t>
            </a:r>
          </a:p>
        </p:txBody>
      </p:sp>
      <p:sp>
        <p:nvSpPr>
          <p:cNvPr id="11" name="CasellaDiTesto 10"/>
          <p:cNvSpPr txBox="1"/>
          <p:nvPr/>
        </p:nvSpPr>
        <p:spPr>
          <a:xfrm>
            <a:off x="3886200" y="152400"/>
            <a:ext cx="259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b="1" dirty="0"/>
              <a:t>SPEME Lab: </a:t>
            </a:r>
            <a:r>
              <a:rPr lang="it-IT" sz="1200" b="1" dirty="0">
                <a:hlinkClick r:id="rId7"/>
              </a:rPr>
              <a:t>http://speme.dimes.unical.it/</a:t>
            </a:r>
            <a:endParaRPr lang="it-IT" sz="1200" b="1" dirty="0"/>
          </a:p>
          <a:p>
            <a:r>
              <a:rPr lang="it-IT" sz="1200" b="1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2347F1-70A5-9D44-65EC-A07B57E1D3D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066" y="200440"/>
            <a:ext cx="2356347" cy="8959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1077432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it-IT" b="1" dirty="0"/>
              <a:t>Conference </a:t>
            </a:r>
            <a:r>
              <a:rPr lang="it-IT" b="1" dirty="0" err="1"/>
              <a:t>Venue</a:t>
            </a:r>
            <a:r>
              <a:rPr lang="it-IT" b="1" dirty="0"/>
              <a:t>: Hotels and Costs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2013168"/>
            <a:ext cx="8229600" cy="4785521"/>
          </a:xfrm>
        </p:spPr>
        <p:txBody>
          <a:bodyPr>
            <a:noAutofit/>
          </a:bodyPr>
          <a:lstStyle/>
          <a:p>
            <a:r>
              <a:rPr lang="it-IT" sz="1800" dirty="0"/>
              <a:t>University of Calabria - Socrates residence (</a:t>
            </a:r>
            <a:r>
              <a:rPr lang="it-IT" sz="1800" dirty="0" err="1"/>
              <a:t>only</a:t>
            </a:r>
            <a:r>
              <a:rPr lang="it-IT" sz="1800" dirty="0"/>
              <a:t> bed, 35-45 </a:t>
            </a:r>
            <a:r>
              <a:rPr lang="it-IT" sz="1800" dirty="0" err="1"/>
              <a:t>euros</a:t>
            </a:r>
            <a:r>
              <a:rPr lang="it-IT" sz="1800" dirty="0"/>
              <a:t> per night)</a:t>
            </a:r>
          </a:p>
          <a:p>
            <a:endParaRPr lang="it-IT" sz="1800" dirty="0"/>
          </a:p>
          <a:p>
            <a:r>
              <a:rPr lang="it-IT" sz="1800" dirty="0" err="1"/>
              <a:t>Many</a:t>
            </a:r>
            <a:r>
              <a:rPr lang="it-IT" sz="1800" dirty="0"/>
              <a:t> hotels in the area of the University of Calabria</a:t>
            </a:r>
          </a:p>
          <a:p>
            <a:pPr lvl="1"/>
            <a:r>
              <a:rPr lang="it-IT" sz="1400" dirty="0"/>
              <a:t>Hotel Majorana****: </a:t>
            </a:r>
            <a:r>
              <a:rPr lang="it-IT" sz="1400" dirty="0">
                <a:hlinkClick r:id="rId2"/>
              </a:rPr>
              <a:t>https://www.hotelmajorana.com/en/</a:t>
            </a:r>
            <a:r>
              <a:rPr lang="it-IT" sz="1400" dirty="0"/>
              <a:t>, 60 (double room)-120 (suite)</a:t>
            </a:r>
          </a:p>
          <a:p>
            <a:pPr lvl="1"/>
            <a:r>
              <a:rPr lang="it-IT" sz="1400" dirty="0"/>
              <a:t>Hotel Marconi****: </a:t>
            </a:r>
            <a:r>
              <a:rPr lang="it-IT" sz="1400" dirty="0">
                <a:hlinkClick r:id="rId3"/>
              </a:rPr>
              <a:t>https://www.marconihotelrende.it/</a:t>
            </a:r>
            <a:r>
              <a:rPr lang="it-IT" sz="1400" dirty="0"/>
              <a:t>, 70 (double room)-150 (suite)</a:t>
            </a:r>
          </a:p>
          <a:p>
            <a:pPr lvl="1"/>
            <a:r>
              <a:rPr lang="it-IT" sz="1400" dirty="0"/>
              <a:t>Hotel Domus****: </a:t>
            </a:r>
            <a:r>
              <a:rPr lang="it-IT" sz="1400" dirty="0">
                <a:hlinkClick r:id="rId4"/>
              </a:rPr>
              <a:t>https://www.grandhoteldomus.it/</a:t>
            </a:r>
            <a:r>
              <a:rPr lang="it-IT" sz="1400" dirty="0"/>
              <a:t>, 65 (double room)-125 (suite)</a:t>
            </a:r>
          </a:p>
          <a:p>
            <a:pPr lvl="1"/>
            <a:r>
              <a:rPr lang="it-IT" sz="1400" dirty="0"/>
              <a:t>Hotel BV </a:t>
            </a:r>
            <a:r>
              <a:rPr lang="it-IT" sz="1400" dirty="0" err="1"/>
              <a:t>President</a:t>
            </a:r>
            <a:r>
              <a:rPr lang="it-IT" sz="1400" dirty="0"/>
              <a:t>****: </a:t>
            </a:r>
            <a:r>
              <a:rPr lang="it-IT" sz="1400" dirty="0">
                <a:hlinkClick r:id="rId5"/>
              </a:rPr>
              <a:t>https://www.bvpresidenthotel.com/?lang=en</a:t>
            </a:r>
            <a:r>
              <a:rPr lang="it-IT" sz="1400" dirty="0"/>
              <a:t>, 70 (double room)-150 (suite)</a:t>
            </a:r>
          </a:p>
          <a:p>
            <a:pPr lvl="1"/>
            <a:r>
              <a:rPr lang="it-IT" sz="1400" dirty="0" err="1"/>
              <a:t>others</a:t>
            </a:r>
            <a:r>
              <a:rPr lang="it-IT" sz="1400" dirty="0"/>
              <a:t> on </a:t>
            </a:r>
            <a:r>
              <a:rPr lang="it-IT" sz="1400" dirty="0" err="1"/>
              <a:t>Booking.com</a:t>
            </a:r>
            <a:r>
              <a:rPr lang="it-IT" sz="1400" dirty="0"/>
              <a:t>…</a:t>
            </a:r>
          </a:p>
          <a:p>
            <a:pPr lvl="1"/>
            <a:endParaRPr lang="it-IT" sz="1400" dirty="0"/>
          </a:p>
          <a:p>
            <a:r>
              <a:rPr lang="it-IT" sz="1800" dirty="0"/>
              <a:t>The hotels are </a:t>
            </a:r>
            <a:r>
              <a:rPr lang="it-IT" sz="1800" dirty="0" err="1"/>
              <a:t>all</a:t>
            </a:r>
            <a:r>
              <a:rPr lang="it-IT" sz="1800" dirty="0"/>
              <a:t> </a:t>
            </a:r>
            <a:r>
              <a:rPr lang="it-IT" sz="1800" dirty="0" err="1"/>
              <a:t>at</a:t>
            </a:r>
            <a:r>
              <a:rPr lang="it-IT" sz="1800" dirty="0"/>
              <a:t> </a:t>
            </a:r>
            <a:r>
              <a:rPr lang="it-IT" sz="1800" dirty="0" err="1"/>
              <a:t>walking</a:t>
            </a:r>
            <a:r>
              <a:rPr lang="it-IT" sz="1800" dirty="0"/>
              <a:t> </a:t>
            </a:r>
            <a:r>
              <a:rPr lang="it-IT" sz="1800" dirty="0" err="1"/>
              <a:t>distance</a:t>
            </a:r>
            <a:r>
              <a:rPr lang="it-IT" sz="1800" dirty="0"/>
              <a:t> to/from </a:t>
            </a:r>
            <a:r>
              <a:rPr lang="it-IT" sz="1800" dirty="0" err="1"/>
              <a:t>Unical</a:t>
            </a:r>
            <a:r>
              <a:rPr lang="it-IT" sz="1800" dirty="0"/>
              <a:t>: 20-25 </a:t>
            </a:r>
            <a:r>
              <a:rPr lang="it-IT" sz="1800" dirty="0" err="1"/>
              <a:t>mins</a:t>
            </a:r>
            <a:r>
              <a:rPr lang="it-IT" sz="1800" dirty="0"/>
              <a:t> </a:t>
            </a:r>
            <a:r>
              <a:rPr lang="it-IT" sz="1800" dirty="0" err="1"/>
              <a:t>walking</a:t>
            </a:r>
            <a:r>
              <a:rPr lang="it-IT" sz="1800" dirty="0"/>
              <a:t>.</a:t>
            </a:r>
          </a:p>
          <a:p>
            <a:endParaRPr lang="it-IT" sz="1800" dirty="0"/>
          </a:p>
          <a:p>
            <a:r>
              <a:rPr lang="it-IT" sz="1800" dirty="0" err="1"/>
              <a:t>There</a:t>
            </a:r>
            <a:r>
              <a:rPr lang="it-IT" sz="1800" dirty="0"/>
              <a:t> are buses </a:t>
            </a:r>
            <a:r>
              <a:rPr lang="it-IT" sz="1800" dirty="0" err="1"/>
              <a:t>connecting</a:t>
            </a:r>
            <a:r>
              <a:rPr lang="it-IT" sz="1800" dirty="0"/>
              <a:t> the hotel area (</a:t>
            </a:r>
            <a:r>
              <a:rPr lang="it-IT" sz="1800" dirty="0" err="1"/>
              <a:t>which</a:t>
            </a:r>
            <a:r>
              <a:rPr lang="it-IT" sz="1800" dirty="0"/>
              <a:t> </a:t>
            </a:r>
            <a:r>
              <a:rPr lang="it-IT" sz="1800" dirty="0" err="1"/>
              <a:t>is</a:t>
            </a:r>
            <a:r>
              <a:rPr lang="it-IT" sz="1800" dirty="0"/>
              <a:t> </a:t>
            </a:r>
            <a:r>
              <a:rPr lang="it-IT" sz="1800" dirty="0" err="1"/>
              <a:t>also</a:t>
            </a:r>
            <a:r>
              <a:rPr lang="it-IT" sz="1800" dirty="0"/>
              <a:t> the </a:t>
            </a:r>
            <a:r>
              <a:rPr lang="it-IT" sz="1800" dirty="0" err="1"/>
              <a:t>main</a:t>
            </a:r>
            <a:r>
              <a:rPr lang="it-IT" sz="1800" dirty="0"/>
              <a:t> </a:t>
            </a:r>
            <a:r>
              <a:rPr lang="it-IT" sz="1800" dirty="0" err="1"/>
              <a:t>students</a:t>
            </a:r>
            <a:r>
              <a:rPr lang="it-IT" sz="1800" dirty="0"/>
              <a:t>’ area) with the University: 5/10 </a:t>
            </a:r>
            <a:r>
              <a:rPr lang="it-IT" sz="1800" dirty="0" err="1"/>
              <a:t>mins</a:t>
            </a:r>
            <a:r>
              <a:rPr lang="it-IT" sz="1800" dirty="0"/>
              <a:t> connections.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4E6F101-5178-905A-49E5-0B27DDF49E14}"/>
              </a:ext>
            </a:extLst>
          </p:cNvPr>
          <p:cNvGrpSpPr/>
          <p:nvPr/>
        </p:nvGrpSpPr>
        <p:grpSpPr>
          <a:xfrm>
            <a:off x="10079" y="67712"/>
            <a:ext cx="9133921" cy="1152727"/>
            <a:chOff x="10079" y="67712"/>
            <a:chExt cx="9133921" cy="1152727"/>
          </a:xfrm>
        </p:grpSpPr>
        <p:pic>
          <p:nvPicPr>
            <p:cNvPr id="8" name="Immagine 4">
              <a:hlinkClick r:id="rId6"/>
              <a:extLst>
                <a:ext uri="{FF2B5EF4-FFF2-40B4-BE49-F238E27FC236}">
                  <a16:creationId xmlns:a16="http://schemas.microsoft.com/office/drawing/2014/main" id="{B3112148-EB1E-F4D4-3965-B9EBD6FD785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086600" y="67712"/>
              <a:ext cx="2057400" cy="1028700"/>
            </a:xfrm>
            <a:prstGeom prst="rect">
              <a:avLst/>
            </a:prstGeom>
          </p:spPr>
        </p:pic>
        <p:pic>
          <p:nvPicPr>
            <p:cNvPr id="9" name="Immagine 6">
              <a:hlinkClick r:id="rId8"/>
              <a:extLst>
                <a:ext uri="{FF2B5EF4-FFF2-40B4-BE49-F238E27FC236}">
                  <a16:creationId xmlns:a16="http://schemas.microsoft.com/office/drawing/2014/main" id="{73E79F09-9C9D-9804-DAB6-CB2CD7FD27A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240694" y="174439"/>
              <a:ext cx="838200" cy="838200"/>
            </a:xfrm>
            <a:prstGeom prst="rect">
              <a:avLst/>
            </a:prstGeom>
          </p:spPr>
        </p:pic>
        <p:sp>
          <p:nvSpPr>
            <p:cNvPr id="11" name="CasellaDiTesto 8">
              <a:extLst>
                <a:ext uri="{FF2B5EF4-FFF2-40B4-BE49-F238E27FC236}">
                  <a16:creationId xmlns:a16="http://schemas.microsoft.com/office/drawing/2014/main" id="{AB9AC656-F8FD-2220-4D3F-4B5DB2E61F31}"/>
                </a:ext>
              </a:extLst>
            </p:cNvPr>
            <p:cNvSpPr txBox="1"/>
            <p:nvPr/>
          </p:nvSpPr>
          <p:spPr>
            <a:xfrm>
              <a:off x="5088833" y="280456"/>
              <a:ext cx="25908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 b="1" dirty="0"/>
                <a:t>SPEME Lab: </a:t>
              </a:r>
              <a:r>
                <a:rPr lang="it-IT" sz="1200" b="1" dirty="0">
                  <a:hlinkClick r:id="rId10"/>
                </a:rPr>
                <a:t>http://speme.dimes.unical.it/</a:t>
              </a:r>
              <a:endParaRPr lang="it-IT" sz="1200" b="1" dirty="0"/>
            </a:p>
            <a:p>
              <a:r>
                <a:rPr lang="it-IT" sz="1200" b="1" dirty="0"/>
                <a:t> </a:t>
              </a:r>
            </a:p>
          </p:txBody>
        </p:sp>
        <p:sp>
          <p:nvSpPr>
            <p:cNvPr id="13" name="CasellaDiTesto 9">
              <a:extLst>
                <a:ext uri="{FF2B5EF4-FFF2-40B4-BE49-F238E27FC236}">
                  <a16:creationId xmlns:a16="http://schemas.microsoft.com/office/drawing/2014/main" id="{3960BF09-6A0D-4305-EEDD-03FC2F5A12E0}"/>
                </a:ext>
              </a:extLst>
            </p:cNvPr>
            <p:cNvSpPr txBox="1"/>
            <p:nvPr/>
          </p:nvSpPr>
          <p:spPr>
            <a:xfrm>
              <a:off x="7076521" y="943440"/>
              <a:ext cx="20574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 b="1" dirty="0"/>
                <a:t>http://www.sensyscal.com</a:t>
              </a: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C768B458-E2ED-3D3F-7A37-DC56818B0B8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79" y="204256"/>
              <a:ext cx="2356347" cy="89597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Picture 2" descr="Brand Materials - IEEE SMC">
              <a:extLst>
                <a:ext uri="{FF2B5EF4-FFF2-40B4-BE49-F238E27FC236}">
                  <a16:creationId xmlns:a16="http://schemas.microsoft.com/office/drawing/2014/main" id="{836F7E4D-0B5F-A7B9-09A1-02168A9F61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85076" y="286006"/>
              <a:ext cx="1917700" cy="5753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8286853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821400"/>
            <a:ext cx="8229600" cy="1143000"/>
          </a:xfrm>
        </p:spPr>
        <p:txBody>
          <a:bodyPr/>
          <a:lstStyle/>
          <a:p>
            <a:r>
              <a:rPr lang="it-IT" b="1" dirty="0"/>
              <a:t>Social Event &amp; </a:t>
            </a:r>
            <a:r>
              <a:rPr lang="it-IT" b="1" dirty="0" err="1"/>
              <a:t>Dinner</a:t>
            </a:r>
            <a:endParaRPr lang="it-IT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3922F1-7851-07EF-41BE-CEBE6C987ADF}"/>
              </a:ext>
            </a:extLst>
          </p:cNvPr>
          <p:cNvSpPr txBox="1"/>
          <p:nvPr/>
        </p:nvSpPr>
        <p:spPr>
          <a:xfrm>
            <a:off x="142876" y="1840992"/>
            <a:ext cx="88548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dirty="0"/>
              <a:t>Outdoor Museum MAB: </a:t>
            </a:r>
            <a:r>
              <a:rPr lang="en-GB" dirty="0">
                <a:hlinkClick r:id="rId2"/>
              </a:rPr>
              <a:t>https://it.wikipedia.org/wiki/Museo_all%27aperto_Bilotti</a:t>
            </a:r>
            <a:endParaRPr lang="en-GB" dirty="0"/>
          </a:p>
          <a:p>
            <a:endParaRPr lang="en-GB" dirty="0"/>
          </a:p>
          <a:p>
            <a:r>
              <a:rPr lang="en-GB" dirty="0"/>
              <a:t>Social Dinner at Cosenza Castle: </a:t>
            </a:r>
            <a:r>
              <a:rPr lang="en-GB" dirty="0">
                <a:hlinkClick r:id="rId3"/>
              </a:rPr>
              <a:t>http://www.castellocosenza.it/</a:t>
            </a:r>
            <a:r>
              <a:rPr lang="en-GB" dirty="0"/>
              <a:t> </a:t>
            </a:r>
            <a:endParaRPr lang="en-IT" dirty="0"/>
          </a:p>
        </p:txBody>
      </p:sp>
      <p:pic>
        <p:nvPicPr>
          <p:cNvPr id="5124" name="Picture 4" descr="Castello normanno-svevo (Cosenza) - Wikipedia">
            <a:extLst>
              <a:ext uri="{FF2B5EF4-FFF2-40B4-BE49-F238E27FC236}">
                <a16:creationId xmlns:a16="http://schemas.microsoft.com/office/drawing/2014/main" id="{A6E7B2A1-1317-8BE8-7209-E8D9A1FEC6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892953"/>
            <a:ext cx="4140200" cy="1968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Castello normanno-svevo (Cosenza) - Wikipedia">
            <a:extLst>
              <a:ext uri="{FF2B5EF4-FFF2-40B4-BE49-F238E27FC236}">
                <a16:creationId xmlns:a16="http://schemas.microsoft.com/office/drawing/2014/main" id="{C9EE9A04-79B7-2CAC-CD3F-93D7D0BBC3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0205" y="2910006"/>
            <a:ext cx="3087194" cy="1964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vista dalle sale del castello - Foto di Castello Normanno-Svevo, Cosenza -  Tripadvisor">
            <a:extLst>
              <a:ext uri="{FF2B5EF4-FFF2-40B4-BE49-F238E27FC236}">
                <a16:creationId xmlns:a16="http://schemas.microsoft.com/office/drawing/2014/main" id="{A63B86EA-5D3D-A557-8DDC-C61BE1EF49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0335" y="2890991"/>
            <a:ext cx="2673586" cy="2002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Picture 10" descr="Museo all'aperto Bilotti - Wikipedia">
            <a:extLst>
              <a:ext uri="{FF2B5EF4-FFF2-40B4-BE49-F238E27FC236}">
                <a16:creationId xmlns:a16="http://schemas.microsoft.com/office/drawing/2014/main" id="{69A1F9D0-2367-BC1C-9F17-6CA78676FE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9" y="4861453"/>
            <a:ext cx="3037921" cy="2021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2" name="Picture 12" descr="Museo all'aperto Bilotti - MAB - Cosenza Turismo - Cosenza Turismo">
            <a:extLst>
              <a:ext uri="{FF2B5EF4-FFF2-40B4-BE49-F238E27FC236}">
                <a16:creationId xmlns:a16="http://schemas.microsoft.com/office/drawing/2014/main" id="{1F163D06-4422-A7ED-2B94-81576DE520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7918" y="4861453"/>
            <a:ext cx="3037921" cy="2021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4" name="Picture 14" descr="Glassware MAB Experience: a Cosenza una app per Google Glass al servizio  dell'arte contemporanea">
            <a:extLst>
              <a:ext uri="{FF2B5EF4-FFF2-40B4-BE49-F238E27FC236}">
                <a16:creationId xmlns:a16="http://schemas.microsoft.com/office/drawing/2014/main" id="{263A91E4-8507-37A6-5FF8-B75028BFF1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2512" y="4891637"/>
            <a:ext cx="3511487" cy="1991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7561FB4E-E1FE-0363-16AC-46B8D4899EFE}"/>
              </a:ext>
            </a:extLst>
          </p:cNvPr>
          <p:cNvGrpSpPr/>
          <p:nvPr/>
        </p:nvGrpSpPr>
        <p:grpSpPr>
          <a:xfrm>
            <a:off x="10079" y="67712"/>
            <a:ext cx="9133921" cy="1152727"/>
            <a:chOff x="10079" y="67712"/>
            <a:chExt cx="9133921" cy="1152727"/>
          </a:xfrm>
        </p:grpSpPr>
        <p:pic>
          <p:nvPicPr>
            <p:cNvPr id="4" name="Immagine 4">
              <a:hlinkClick r:id="rId10"/>
              <a:extLst>
                <a:ext uri="{FF2B5EF4-FFF2-40B4-BE49-F238E27FC236}">
                  <a16:creationId xmlns:a16="http://schemas.microsoft.com/office/drawing/2014/main" id="{6ECC91FD-1C4C-21A6-FB1B-8B6C7D84840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086600" y="67712"/>
              <a:ext cx="2057400" cy="1028700"/>
            </a:xfrm>
            <a:prstGeom prst="rect">
              <a:avLst/>
            </a:prstGeom>
          </p:spPr>
        </p:pic>
        <p:pic>
          <p:nvPicPr>
            <p:cNvPr id="6" name="Immagine 6">
              <a:hlinkClick r:id="rId12"/>
              <a:extLst>
                <a:ext uri="{FF2B5EF4-FFF2-40B4-BE49-F238E27FC236}">
                  <a16:creationId xmlns:a16="http://schemas.microsoft.com/office/drawing/2014/main" id="{E73CB083-6AEC-A86E-5519-74838A3E3B4B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4240694" y="174439"/>
              <a:ext cx="838200" cy="838200"/>
            </a:xfrm>
            <a:prstGeom prst="rect">
              <a:avLst/>
            </a:prstGeom>
          </p:spPr>
        </p:pic>
        <p:sp>
          <p:nvSpPr>
            <p:cNvPr id="8" name="CasellaDiTesto 8">
              <a:extLst>
                <a:ext uri="{FF2B5EF4-FFF2-40B4-BE49-F238E27FC236}">
                  <a16:creationId xmlns:a16="http://schemas.microsoft.com/office/drawing/2014/main" id="{47277B8E-3195-14D8-A8AD-4E52A30D9695}"/>
                </a:ext>
              </a:extLst>
            </p:cNvPr>
            <p:cNvSpPr txBox="1"/>
            <p:nvPr/>
          </p:nvSpPr>
          <p:spPr>
            <a:xfrm>
              <a:off x="5088833" y="280456"/>
              <a:ext cx="25908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 b="1" dirty="0"/>
                <a:t>SPEME Lab: </a:t>
              </a:r>
              <a:r>
                <a:rPr lang="it-IT" sz="1200" b="1" dirty="0">
                  <a:hlinkClick r:id="rId14"/>
                </a:rPr>
                <a:t>http://speme.dimes.unical.it/</a:t>
              </a:r>
              <a:endParaRPr lang="it-IT" sz="1200" b="1" dirty="0"/>
            </a:p>
            <a:p>
              <a:r>
                <a:rPr lang="it-IT" sz="1200" b="1" dirty="0"/>
                <a:t> </a:t>
              </a:r>
            </a:p>
          </p:txBody>
        </p:sp>
        <p:sp>
          <p:nvSpPr>
            <p:cNvPr id="9" name="CasellaDiTesto 9">
              <a:extLst>
                <a:ext uri="{FF2B5EF4-FFF2-40B4-BE49-F238E27FC236}">
                  <a16:creationId xmlns:a16="http://schemas.microsoft.com/office/drawing/2014/main" id="{968991BE-7BB7-0D76-E5AE-AAF8FB9D637F}"/>
                </a:ext>
              </a:extLst>
            </p:cNvPr>
            <p:cNvSpPr txBox="1"/>
            <p:nvPr/>
          </p:nvSpPr>
          <p:spPr>
            <a:xfrm>
              <a:off x="7076521" y="943440"/>
              <a:ext cx="20574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 b="1" dirty="0"/>
                <a:t>http://www.sensyscal.com</a:t>
              </a: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DF6BF22-E774-DBC8-C507-73BB96E151E5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79" y="204256"/>
              <a:ext cx="2356347" cy="89597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" name="Picture 2" descr="Brand Materials - IEEE SMC">
              <a:extLst>
                <a:ext uri="{FF2B5EF4-FFF2-40B4-BE49-F238E27FC236}">
                  <a16:creationId xmlns:a16="http://schemas.microsoft.com/office/drawing/2014/main" id="{EF7DC04D-1A9A-C84A-6DFF-15E1F70CC00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85076" y="286006"/>
              <a:ext cx="1917700" cy="5753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2495948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791160"/>
            <a:ext cx="8229600" cy="1143000"/>
          </a:xfrm>
        </p:spPr>
        <p:txBody>
          <a:bodyPr>
            <a:normAutofit/>
          </a:bodyPr>
          <a:lstStyle/>
          <a:p>
            <a:r>
              <a:rPr lang="it-IT" sz="4000" b="1" dirty="0" err="1"/>
              <a:t>Touristic</a:t>
            </a:r>
            <a:r>
              <a:rPr lang="it-IT" sz="4000" b="1" dirty="0"/>
              <a:t> Info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703475"/>
            <a:ext cx="8229600" cy="5154525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 sz="1400" dirty="0"/>
              <a:t>Very famous Touristic (and historical) towns near the conference venue are </a:t>
            </a:r>
            <a:r>
              <a:rPr lang="en-US" sz="1400" dirty="0" err="1"/>
              <a:t>Tropea</a:t>
            </a:r>
            <a:r>
              <a:rPr lang="en-US" sz="1400" dirty="0"/>
              <a:t> (named the Pearl of the Tyrrhenian sea) and </a:t>
            </a:r>
            <a:r>
              <a:rPr lang="en-US" sz="1400" dirty="0" err="1"/>
              <a:t>Pizzo</a:t>
            </a:r>
            <a:r>
              <a:rPr lang="en-US" sz="1400" dirty="0"/>
              <a:t> </a:t>
            </a:r>
            <a:r>
              <a:rPr lang="en-US" sz="1400" dirty="0" err="1"/>
              <a:t>Calabro</a:t>
            </a:r>
            <a:r>
              <a:rPr lang="en-US" sz="1400" dirty="0"/>
              <a:t> (where there is the Murat's Castle and famous for the Black Truffle Ice Cream). From the port of </a:t>
            </a:r>
            <a:r>
              <a:rPr lang="en-US" sz="1400" dirty="0" err="1"/>
              <a:t>Vibo</a:t>
            </a:r>
            <a:r>
              <a:rPr lang="en-US" sz="1400" dirty="0"/>
              <a:t> Valentia, it is possible to take a boat to the </a:t>
            </a:r>
            <a:r>
              <a:rPr lang="en-US" sz="1400" dirty="0" err="1"/>
              <a:t>Eolie</a:t>
            </a:r>
            <a:r>
              <a:rPr lang="en-US" sz="1400" dirty="0"/>
              <a:t> islands, where it is possible to visit the active Stromboli Volcano Island</a:t>
            </a:r>
            <a:r>
              <a:rPr lang="en-US" sz="1800" dirty="0"/>
              <a:t>. </a:t>
            </a:r>
            <a:r>
              <a:rPr lang="en-US" sz="1400" dirty="0"/>
              <a:t>Green “Sila Mountains” in 20 mins from Cosenza!!!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pPr>
              <a:buNone/>
            </a:pPr>
            <a:endParaRPr lang="en-US" sz="18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pPr>
              <a:buNone/>
            </a:pPr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b="1" dirty="0"/>
          </a:p>
          <a:p>
            <a:r>
              <a:rPr lang="en-US" sz="1400" b="1" dirty="0"/>
              <a:t>Reggio Calabria </a:t>
            </a:r>
            <a:r>
              <a:rPr lang="en-US" sz="1400" dirty="0"/>
              <a:t>(1 </a:t>
            </a:r>
            <a:r>
              <a:rPr lang="en-US" sz="1400" dirty="0" err="1"/>
              <a:t>hr</a:t>
            </a:r>
            <a:r>
              <a:rPr lang="en-US" sz="1400" dirty="0"/>
              <a:t> and 20 mins by train) famous for its touristic promenade, and the small town of Scilla (1h by car), famous for the Legend of </a:t>
            </a:r>
            <a:r>
              <a:rPr lang="en-US" sz="1400" b="1" dirty="0"/>
              <a:t>Scilla</a:t>
            </a:r>
            <a:r>
              <a:rPr lang="en-US" sz="1400" dirty="0"/>
              <a:t> and </a:t>
            </a:r>
            <a:r>
              <a:rPr lang="en-US" sz="1400" dirty="0" err="1"/>
              <a:t>Cariddi</a:t>
            </a:r>
            <a:r>
              <a:rPr lang="en-US" sz="1400" dirty="0"/>
              <a:t>, and for the white beach and the Ruffo's Castle on the rock dominating the seaside.</a:t>
            </a:r>
            <a:r>
              <a:rPr lang="it-IT" sz="1400" dirty="0"/>
              <a:t> </a:t>
            </a:r>
          </a:p>
          <a:p>
            <a:r>
              <a:rPr lang="en-US" sz="1400" dirty="0"/>
              <a:t>See: </a:t>
            </a:r>
            <a:r>
              <a:rPr lang="en-US" sz="1400" dirty="0">
                <a:hlinkClick r:id="rId2"/>
              </a:rPr>
              <a:t>http://www.italia.it/en/discover-italy/calabria.html</a:t>
            </a:r>
            <a:endParaRPr lang="it-IT" sz="1400" dirty="0"/>
          </a:p>
        </p:txBody>
      </p:sp>
      <p:pic>
        <p:nvPicPr>
          <p:cNvPr id="11" name="Immagine 10" descr="tropea.jpg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028699" y="2701362"/>
            <a:ext cx="1858393" cy="1307930"/>
          </a:xfrm>
          <a:prstGeom prst="rect">
            <a:avLst/>
          </a:prstGeom>
        </p:spPr>
      </p:pic>
      <p:pic>
        <p:nvPicPr>
          <p:cNvPr id="12" name="Immagine 11" descr="pizzo-calabro.jpg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3822352" y="2701362"/>
            <a:ext cx="1867477" cy="1307930"/>
          </a:xfrm>
          <a:prstGeom prst="rect">
            <a:avLst/>
          </a:prstGeom>
        </p:spPr>
      </p:pic>
      <p:pic>
        <p:nvPicPr>
          <p:cNvPr id="13" name="Immagine 12" descr="stromboli-eolie.gif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6840415" y="2701362"/>
            <a:ext cx="1846385" cy="1307930"/>
          </a:xfrm>
          <a:prstGeom prst="rect">
            <a:avLst/>
          </a:prstGeom>
        </p:spPr>
      </p:pic>
      <p:pic>
        <p:nvPicPr>
          <p:cNvPr id="15" name="Immagine 14" descr="reggio-calabria-promenade.jpg"/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1274491" y="4141362"/>
            <a:ext cx="1867477" cy="1238276"/>
          </a:xfrm>
          <a:prstGeom prst="rect">
            <a:avLst/>
          </a:prstGeom>
        </p:spPr>
      </p:pic>
      <p:pic>
        <p:nvPicPr>
          <p:cNvPr id="16" name="Immagine 15" descr="castello-scilla.JPG"/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3793118" y="4148272"/>
            <a:ext cx="1872180" cy="1281924"/>
          </a:xfrm>
          <a:prstGeom prst="rect">
            <a:avLst/>
          </a:prstGeom>
        </p:spPr>
      </p:pic>
      <p:sp>
        <p:nvSpPr>
          <p:cNvPr id="17" name="Rettangolo 16"/>
          <p:cNvSpPr/>
          <p:nvPr/>
        </p:nvSpPr>
        <p:spPr>
          <a:xfrm>
            <a:off x="4375955" y="2299969"/>
            <a:ext cx="822960" cy="8229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T"/>
          </a:p>
        </p:txBody>
      </p:sp>
      <p:sp>
        <p:nvSpPr>
          <p:cNvPr id="18" name="Titolo 1"/>
          <p:cNvSpPr txBox="1">
            <a:spLocks/>
          </p:cNvSpPr>
          <p:nvPr/>
        </p:nvSpPr>
        <p:spPr>
          <a:xfrm>
            <a:off x="907093" y="3648864"/>
            <a:ext cx="917172" cy="492498"/>
          </a:xfrm>
          <a:prstGeom prst="rect">
            <a:avLst/>
          </a:prstGeom>
          <a:scene3d>
            <a:camera prst="obliqueTopLeft"/>
            <a:lightRig rig="threePt" dir="t"/>
          </a:scene3d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/>
                <a:ea typeface="+mj-ea"/>
                <a:cs typeface="Comic Sans MS"/>
              </a:rPr>
              <a:t>Tropea</a:t>
            </a:r>
          </a:p>
        </p:txBody>
      </p:sp>
      <p:sp>
        <p:nvSpPr>
          <p:cNvPr id="19" name="Titolo 1"/>
          <p:cNvSpPr txBox="1">
            <a:spLocks/>
          </p:cNvSpPr>
          <p:nvPr/>
        </p:nvSpPr>
        <p:spPr>
          <a:xfrm>
            <a:off x="4831040" y="2701362"/>
            <a:ext cx="917172" cy="492498"/>
          </a:xfrm>
          <a:prstGeom prst="rect">
            <a:avLst/>
          </a:prstGeom>
          <a:scene3d>
            <a:camera prst="obliqueTopLeft"/>
            <a:lightRig rig="threePt" dir="t"/>
          </a:scene3d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/>
                <a:ea typeface="+mj-ea"/>
                <a:cs typeface="Comic Sans MS"/>
              </a:rPr>
              <a:t>Pizzo</a:t>
            </a:r>
          </a:p>
        </p:txBody>
      </p:sp>
      <p:sp>
        <p:nvSpPr>
          <p:cNvPr id="20" name="Titolo 1"/>
          <p:cNvSpPr txBox="1">
            <a:spLocks/>
          </p:cNvSpPr>
          <p:nvPr/>
        </p:nvSpPr>
        <p:spPr>
          <a:xfrm>
            <a:off x="6750128" y="3516850"/>
            <a:ext cx="1053883" cy="492498"/>
          </a:xfrm>
          <a:prstGeom prst="rect">
            <a:avLst/>
          </a:prstGeom>
          <a:scene3d>
            <a:camera prst="obliqueTopLeft"/>
            <a:lightRig rig="threePt" dir="t"/>
          </a:scene3d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3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/>
                <a:ea typeface="+mj-ea"/>
                <a:cs typeface="Comic Sans MS"/>
              </a:rPr>
              <a:t>Stromboli</a:t>
            </a:r>
          </a:p>
        </p:txBody>
      </p:sp>
      <p:sp>
        <p:nvSpPr>
          <p:cNvPr id="22" name="Titolo 1"/>
          <p:cNvSpPr txBox="1">
            <a:spLocks/>
          </p:cNvSpPr>
          <p:nvPr/>
        </p:nvSpPr>
        <p:spPr>
          <a:xfrm>
            <a:off x="1338339" y="4360257"/>
            <a:ext cx="917172" cy="492498"/>
          </a:xfrm>
          <a:prstGeom prst="rect">
            <a:avLst/>
          </a:prstGeom>
          <a:scene3d>
            <a:camera prst="obliqueTopLeft"/>
            <a:lightRig rig="threePt" dir="t"/>
          </a:scene3d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/>
                <a:ea typeface="+mj-ea"/>
                <a:cs typeface="Comic Sans MS"/>
              </a:rPr>
              <a:t>Reggio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400" b="1" dirty="0">
                <a:solidFill>
                  <a:srgbClr val="FF0000"/>
                </a:solidFill>
                <a:latin typeface="Comic Sans MS"/>
                <a:ea typeface="+mj-ea"/>
                <a:cs typeface="Comic Sans MS"/>
              </a:rPr>
              <a:t>Calabria</a:t>
            </a:r>
            <a:endParaRPr kumimoji="0" lang="it-IT" sz="1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mic Sans MS"/>
              <a:ea typeface="+mj-ea"/>
              <a:cs typeface="Comic Sans MS"/>
            </a:endParaRPr>
          </a:p>
        </p:txBody>
      </p:sp>
      <p:sp>
        <p:nvSpPr>
          <p:cNvPr id="23" name="Titolo 1"/>
          <p:cNvSpPr txBox="1">
            <a:spLocks/>
          </p:cNvSpPr>
          <p:nvPr/>
        </p:nvSpPr>
        <p:spPr>
          <a:xfrm>
            <a:off x="4668568" y="4985238"/>
            <a:ext cx="1155552" cy="596124"/>
          </a:xfrm>
          <a:prstGeom prst="rect">
            <a:avLst/>
          </a:prstGeom>
          <a:scene3d>
            <a:camera prst="obliqueTopLeft"/>
            <a:lightRig rig="threePt" dir="t"/>
          </a:scene3d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/>
                <a:ea typeface="+mj-ea"/>
                <a:cs typeface="Comic Sans MS"/>
              </a:rPr>
              <a:t>Scilla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0DB48D6-6438-2EC4-58FA-0A5B4EA444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4148272"/>
            <a:ext cx="2263723" cy="1307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olo 1">
            <a:extLst>
              <a:ext uri="{FF2B5EF4-FFF2-40B4-BE49-F238E27FC236}">
                <a16:creationId xmlns:a16="http://schemas.microsoft.com/office/drawing/2014/main" id="{651E5C6B-4E45-0D50-1295-39B175F9FE4C}"/>
              </a:ext>
            </a:extLst>
          </p:cNvPr>
          <p:cNvSpPr txBox="1">
            <a:spLocks/>
          </p:cNvSpPr>
          <p:nvPr/>
        </p:nvSpPr>
        <p:spPr>
          <a:xfrm>
            <a:off x="7947333" y="4798367"/>
            <a:ext cx="1053883" cy="492498"/>
          </a:xfrm>
          <a:prstGeom prst="rect">
            <a:avLst/>
          </a:prstGeom>
          <a:scene3d>
            <a:camera prst="obliqueTopLeft"/>
            <a:lightRig rig="threePt" dir="t"/>
          </a:scene3d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3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/>
                <a:ea typeface="+mj-ea"/>
                <a:cs typeface="Comic Sans MS"/>
              </a:rPr>
              <a:t>SILA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D8A1CB7-7A7A-A975-137D-976FA6E7F1E7}"/>
              </a:ext>
            </a:extLst>
          </p:cNvPr>
          <p:cNvGrpSpPr/>
          <p:nvPr/>
        </p:nvGrpSpPr>
        <p:grpSpPr>
          <a:xfrm>
            <a:off x="10079" y="67712"/>
            <a:ext cx="9133921" cy="1152727"/>
            <a:chOff x="10079" y="67712"/>
            <a:chExt cx="9133921" cy="1152727"/>
          </a:xfrm>
        </p:grpSpPr>
        <p:pic>
          <p:nvPicPr>
            <p:cNvPr id="9" name="Immagine 4">
              <a:hlinkClick r:id="rId9"/>
              <a:extLst>
                <a:ext uri="{FF2B5EF4-FFF2-40B4-BE49-F238E27FC236}">
                  <a16:creationId xmlns:a16="http://schemas.microsoft.com/office/drawing/2014/main" id="{F94364C2-7E5A-2159-C6F0-199D4E70A5A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086600" y="67712"/>
              <a:ext cx="2057400" cy="1028700"/>
            </a:xfrm>
            <a:prstGeom prst="rect">
              <a:avLst/>
            </a:prstGeom>
          </p:spPr>
        </p:pic>
        <p:pic>
          <p:nvPicPr>
            <p:cNvPr id="14" name="Immagine 6">
              <a:hlinkClick r:id="rId11"/>
              <a:extLst>
                <a:ext uri="{FF2B5EF4-FFF2-40B4-BE49-F238E27FC236}">
                  <a16:creationId xmlns:a16="http://schemas.microsoft.com/office/drawing/2014/main" id="{6C33DA09-9CE3-4DF9-972F-A413DE620F8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240694" y="174439"/>
              <a:ext cx="838200" cy="838200"/>
            </a:xfrm>
            <a:prstGeom prst="rect">
              <a:avLst/>
            </a:prstGeom>
          </p:spPr>
        </p:pic>
        <p:sp>
          <p:nvSpPr>
            <p:cNvPr id="21" name="CasellaDiTesto 8">
              <a:extLst>
                <a:ext uri="{FF2B5EF4-FFF2-40B4-BE49-F238E27FC236}">
                  <a16:creationId xmlns:a16="http://schemas.microsoft.com/office/drawing/2014/main" id="{9ED4F2CF-23B4-18F7-5801-D9CE2AB9831D}"/>
                </a:ext>
              </a:extLst>
            </p:cNvPr>
            <p:cNvSpPr txBox="1"/>
            <p:nvPr/>
          </p:nvSpPr>
          <p:spPr>
            <a:xfrm>
              <a:off x="5088833" y="280456"/>
              <a:ext cx="25908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 b="1" dirty="0"/>
                <a:t>SPEME Lab: </a:t>
              </a:r>
              <a:r>
                <a:rPr lang="it-IT" sz="1200" b="1" dirty="0">
                  <a:hlinkClick r:id="rId13"/>
                </a:rPr>
                <a:t>http://speme.dimes.unical.it/</a:t>
              </a:r>
              <a:endParaRPr lang="it-IT" sz="1200" b="1" dirty="0"/>
            </a:p>
            <a:p>
              <a:r>
                <a:rPr lang="it-IT" sz="1200" b="1" dirty="0"/>
                <a:t> </a:t>
              </a:r>
            </a:p>
          </p:txBody>
        </p:sp>
        <p:sp>
          <p:nvSpPr>
            <p:cNvPr id="24" name="CasellaDiTesto 9">
              <a:extLst>
                <a:ext uri="{FF2B5EF4-FFF2-40B4-BE49-F238E27FC236}">
                  <a16:creationId xmlns:a16="http://schemas.microsoft.com/office/drawing/2014/main" id="{533F0DA5-2EA0-5380-47FE-297894E60DC8}"/>
                </a:ext>
              </a:extLst>
            </p:cNvPr>
            <p:cNvSpPr txBox="1"/>
            <p:nvPr/>
          </p:nvSpPr>
          <p:spPr>
            <a:xfrm>
              <a:off x="7076521" y="943440"/>
              <a:ext cx="20574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 b="1" dirty="0"/>
                <a:t>http://www.sensyscal.com</a:t>
              </a:r>
            </a:p>
          </p:txBody>
        </p: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1BEE5B42-951A-39D8-A6CE-18443DB45C8A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79" y="204256"/>
              <a:ext cx="2356347" cy="89597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" name="Picture 2" descr="Brand Materials - IEEE SMC">
              <a:extLst>
                <a:ext uri="{FF2B5EF4-FFF2-40B4-BE49-F238E27FC236}">
                  <a16:creationId xmlns:a16="http://schemas.microsoft.com/office/drawing/2014/main" id="{ECD6A01B-511C-F082-2C31-19FEF1858B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85076" y="286006"/>
              <a:ext cx="1917700" cy="5753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972600"/>
            <a:ext cx="8229600" cy="1143000"/>
          </a:xfrm>
        </p:spPr>
        <p:txBody>
          <a:bodyPr>
            <a:noAutofit/>
          </a:bodyPr>
          <a:lstStyle/>
          <a:p>
            <a:r>
              <a:rPr lang="it-IT" sz="3600" b="1" dirty="0" err="1"/>
              <a:t>Calabrian</a:t>
            </a:r>
            <a:r>
              <a:rPr lang="it-IT" sz="3600" b="1" dirty="0"/>
              <a:t> </a:t>
            </a:r>
            <a:r>
              <a:rPr lang="it-IT" sz="3600" b="1" dirty="0" err="1"/>
              <a:t>Cuisine</a:t>
            </a:r>
            <a:endParaRPr lang="it-IT" sz="3600" b="1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955469"/>
            <a:ext cx="8229600" cy="4636677"/>
          </a:xfrm>
        </p:spPr>
        <p:txBody>
          <a:bodyPr>
            <a:noAutofit/>
          </a:bodyPr>
          <a:lstStyle/>
          <a:p>
            <a:pPr>
              <a:spcAft>
                <a:spcPts val="600"/>
              </a:spcAft>
            </a:pPr>
            <a:r>
              <a:rPr lang="en-US" sz="1600" b="1" dirty="0"/>
              <a:t>Calabria's cuisine,</a:t>
            </a:r>
            <a:r>
              <a:rPr lang="en-US" sz="1600" dirty="0"/>
              <a:t> one of Italy's most traditional and noteworthy!</a:t>
            </a:r>
          </a:p>
          <a:p>
            <a:pPr>
              <a:spcAft>
                <a:spcPts val="600"/>
              </a:spcAft>
            </a:pPr>
            <a:r>
              <a:rPr lang="en-US" sz="1600" dirty="0"/>
              <a:t>Witness the famous </a:t>
            </a:r>
            <a:r>
              <a:rPr lang="en-US" sz="1600" dirty="0" err="1"/>
              <a:t>Calabrian</a:t>
            </a:r>
            <a:r>
              <a:rPr lang="en-US" sz="1600" dirty="0"/>
              <a:t> hot pepper (</a:t>
            </a:r>
            <a:r>
              <a:rPr lang="en-US" sz="1600" dirty="0" err="1"/>
              <a:t>peperoncino</a:t>
            </a:r>
            <a:r>
              <a:rPr lang="en-US" sz="1600" dirty="0"/>
              <a:t>), found in most </a:t>
            </a:r>
            <a:r>
              <a:rPr lang="en-US" sz="1600" dirty="0" err="1"/>
              <a:t>Calabrian</a:t>
            </a:r>
            <a:r>
              <a:rPr lang="en-US" sz="1600" dirty="0"/>
              <a:t> typical dishes. </a:t>
            </a:r>
          </a:p>
          <a:p>
            <a:pPr>
              <a:spcAft>
                <a:spcPts val="600"/>
              </a:spcAft>
            </a:pPr>
            <a:r>
              <a:rPr lang="en-US" sz="1600" dirty="0"/>
              <a:t>From toasted bread with </a:t>
            </a:r>
            <a:r>
              <a:rPr lang="en-US" sz="1600" dirty="0" err="1"/>
              <a:t>n’duja</a:t>
            </a:r>
            <a:r>
              <a:rPr lang="en-US" sz="1600" dirty="0"/>
              <a:t> sausage or sardines – called the “caviar of the poor” – to pork sausages, from pasta sauces to fish dishes.</a:t>
            </a:r>
          </a:p>
          <a:p>
            <a:pPr>
              <a:spcAft>
                <a:spcPts val="600"/>
              </a:spcAft>
            </a:pPr>
            <a:r>
              <a:rPr lang="en-US" sz="1600" dirty="0"/>
              <a:t>The strong flavor of hot pepper contrasts with the sweet taste of the </a:t>
            </a:r>
            <a:r>
              <a:rPr lang="en-US" sz="1600" dirty="0" err="1"/>
              <a:t>Tropea</a:t>
            </a:r>
            <a:r>
              <a:rPr lang="en-US" sz="1600" dirty="0"/>
              <a:t> red onion, protected by the PGI quality mark. The onion is used for seasoning dishes as well as for curative purposes.  </a:t>
            </a:r>
          </a:p>
          <a:p>
            <a:pPr>
              <a:spcAft>
                <a:spcPts val="600"/>
              </a:spcAft>
            </a:pPr>
            <a:r>
              <a:rPr lang="en-US" sz="1600" dirty="0"/>
              <a:t>Some of the delicacies among </a:t>
            </a:r>
            <a:r>
              <a:rPr lang="en-US" sz="1600" dirty="0" err="1"/>
              <a:t>Calabrian</a:t>
            </a:r>
            <a:r>
              <a:rPr lang="en-US" sz="1600" dirty="0"/>
              <a:t> products and typical dishes that explorers of this amazing region must try include: extra-virgin olive oil, wines, bergamot liqueurs, </a:t>
            </a:r>
            <a:r>
              <a:rPr lang="en-US" sz="1600" dirty="0" err="1"/>
              <a:t>liquorice</a:t>
            </a:r>
            <a:r>
              <a:rPr lang="en-US" sz="1600" dirty="0"/>
              <a:t>, citron and herbs, honey and jams, special types of homemade pasta (</a:t>
            </a:r>
            <a:r>
              <a:rPr lang="en-US" sz="1600" dirty="0" err="1"/>
              <a:t>strangugghj</a:t>
            </a:r>
            <a:r>
              <a:rPr lang="en-US" sz="1600" dirty="0"/>
              <a:t>, </a:t>
            </a:r>
            <a:r>
              <a:rPr lang="en-US" sz="1600" dirty="0" err="1"/>
              <a:t>fileja</a:t>
            </a:r>
            <a:r>
              <a:rPr lang="en-US" sz="1600" dirty="0"/>
              <a:t>, </a:t>
            </a:r>
            <a:r>
              <a:rPr lang="en-US" sz="1600" dirty="0" err="1"/>
              <a:t>maccaruni</a:t>
            </a:r>
            <a:r>
              <a:rPr lang="en-US" sz="1600" dirty="0"/>
              <a:t>) that are still made today using the old methods.</a:t>
            </a:r>
          </a:p>
          <a:p>
            <a:pPr>
              <a:spcAft>
                <a:spcPts val="600"/>
              </a:spcAft>
            </a:pPr>
            <a:r>
              <a:rPr lang="en-US" sz="1600" dirty="0"/>
              <a:t>Finally a great variety of </a:t>
            </a:r>
            <a:r>
              <a:rPr lang="en-US" sz="1600" dirty="0" err="1"/>
              <a:t>Calabrian</a:t>
            </a:r>
            <a:r>
              <a:rPr lang="en-US" sz="1600" dirty="0"/>
              <a:t> (red, white, </a:t>
            </a:r>
            <a:r>
              <a:rPr lang="en-US" sz="1600" dirty="0" err="1"/>
              <a:t>rosè</a:t>
            </a:r>
            <a:r>
              <a:rPr lang="en-US" sz="1600" dirty="0"/>
              <a:t>) wines (</a:t>
            </a:r>
            <a:r>
              <a:rPr lang="en-US" sz="1600" dirty="0" err="1"/>
              <a:t>Cirò</a:t>
            </a:r>
            <a:r>
              <a:rPr lang="en-US" sz="1600" dirty="0"/>
              <a:t>, </a:t>
            </a:r>
            <a:r>
              <a:rPr lang="en-US" sz="1600" dirty="0" err="1"/>
              <a:t>Libici</a:t>
            </a:r>
            <a:r>
              <a:rPr lang="en-US" sz="1600" dirty="0"/>
              <a:t>, </a:t>
            </a:r>
            <a:r>
              <a:rPr lang="en-US" sz="1600" dirty="0" err="1"/>
              <a:t>Magliocco</a:t>
            </a:r>
            <a:r>
              <a:rPr lang="en-US" sz="1600" dirty="0"/>
              <a:t> Calabria, Greco </a:t>
            </a:r>
            <a:r>
              <a:rPr lang="en-US" sz="1600" dirty="0" err="1"/>
              <a:t>di</a:t>
            </a:r>
            <a:r>
              <a:rPr lang="en-US" sz="1600" dirty="0"/>
              <a:t> </a:t>
            </a:r>
            <a:r>
              <a:rPr lang="en-US" sz="1600" dirty="0" err="1"/>
              <a:t>Bianco</a:t>
            </a:r>
            <a:r>
              <a:rPr lang="en-US" sz="1600" dirty="0"/>
              <a:t>) can be found and tasted.</a:t>
            </a:r>
          </a:p>
          <a:p>
            <a:pPr>
              <a:spcAft>
                <a:spcPts val="600"/>
              </a:spcAft>
            </a:pPr>
            <a:r>
              <a:rPr lang="en-US" sz="1600" dirty="0"/>
              <a:t>See: http://www.italia.it/en/discover-italy/calabria.html</a:t>
            </a:r>
            <a:endParaRPr lang="it-IT" sz="1600" dirty="0"/>
          </a:p>
          <a:p>
            <a:pPr>
              <a:spcAft>
                <a:spcPts val="600"/>
              </a:spcAft>
              <a:buNone/>
            </a:pPr>
            <a:endParaRPr lang="it-IT" sz="16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3485" y="1890347"/>
            <a:ext cx="6183888" cy="470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4264" y="2951651"/>
            <a:ext cx="5829300" cy="383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436" y="764252"/>
            <a:ext cx="572452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2702919A-1C6F-F812-8996-16A8292E408F}"/>
              </a:ext>
            </a:extLst>
          </p:cNvPr>
          <p:cNvGrpSpPr/>
          <p:nvPr/>
        </p:nvGrpSpPr>
        <p:grpSpPr>
          <a:xfrm>
            <a:off x="10079" y="67712"/>
            <a:ext cx="9133921" cy="1152727"/>
            <a:chOff x="10079" y="67712"/>
            <a:chExt cx="9133921" cy="1152727"/>
          </a:xfrm>
        </p:grpSpPr>
        <p:pic>
          <p:nvPicPr>
            <p:cNvPr id="8" name="Immagine 4">
              <a:hlinkClick r:id="rId6"/>
              <a:extLst>
                <a:ext uri="{FF2B5EF4-FFF2-40B4-BE49-F238E27FC236}">
                  <a16:creationId xmlns:a16="http://schemas.microsoft.com/office/drawing/2014/main" id="{016BAE89-520C-9FFD-DC49-C2AFDD4939C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086600" y="67712"/>
              <a:ext cx="2057400" cy="1028700"/>
            </a:xfrm>
            <a:prstGeom prst="rect">
              <a:avLst/>
            </a:prstGeom>
          </p:spPr>
        </p:pic>
        <p:pic>
          <p:nvPicPr>
            <p:cNvPr id="9" name="Immagine 6">
              <a:hlinkClick r:id="rId8"/>
              <a:extLst>
                <a:ext uri="{FF2B5EF4-FFF2-40B4-BE49-F238E27FC236}">
                  <a16:creationId xmlns:a16="http://schemas.microsoft.com/office/drawing/2014/main" id="{17C298CD-2D52-6A4E-792F-6D2D3D9C1A2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240694" y="174439"/>
              <a:ext cx="838200" cy="838200"/>
            </a:xfrm>
            <a:prstGeom prst="rect">
              <a:avLst/>
            </a:prstGeom>
          </p:spPr>
        </p:pic>
        <p:sp>
          <p:nvSpPr>
            <p:cNvPr id="10" name="CasellaDiTesto 8">
              <a:extLst>
                <a:ext uri="{FF2B5EF4-FFF2-40B4-BE49-F238E27FC236}">
                  <a16:creationId xmlns:a16="http://schemas.microsoft.com/office/drawing/2014/main" id="{65C3A66B-CA43-1635-D282-B4DD640B96E5}"/>
                </a:ext>
              </a:extLst>
            </p:cNvPr>
            <p:cNvSpPr txBox="1"/>
            <p:nvPr/>
          </p:nvSpPr>
          <p:spPr>
            <a:xfrm>
              <a:off x="5088833" y="280456"/>
              <a:ext cx="25908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 b="1" dirty="0"/>
                <a:t>SPEME Lab: </a:t>
              </a:r>
              <a:r>
                <a:rPr lang="it-IT" sz="1200" b="1" dirty="0">
                  <a:hlinkClick r:id="rId10"/>
                </a:rPr>
                <a:t>http://speme.dimes.unical.it/</a:t>
              </a:r>
              <a:endParaRPr lang="it-IT" sz="1200" b="1" dirty="0"/>
            </a:p>
            <a:p>
              <a:r>
                <a:rPr lang="it-IT" sz="1200" b="1" dirty="0"/>
                <a:t> </a:t>
              </a:r>
            </a:p>
          </p:txBody>
        </p:sp>
        <p:sp>
          <p:nvSpPr>
            <p:cNvPr id="11" name="CasellaDiTesto 9">
              <a:extLst>
                <a:ext uri="{FF2B5EF4-FFF2-40B4-BE49-F238E27FC236}">
                  <a16:creationId xmlns:a16="http://schemas.microsoft.com/office/drawing/2014/main" id="{9DBC6ACA-166E-02E5-8272-8D5FFD434A42}"/>
                </a:ext>
              </a:extLst>
            </p:cNvPr>
            <p:cNvSpPr txBox="1"/>
            <p:nvPr/>
          </p:nvSpPr>
          <p:spPr>
            <a:xfrm>
              <a:off x="7076521" y="943440"/>
              <a:ext cx="20574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 b="1" dirty="0"/>
                <a:t>http://www.sensyscal.com</a:t>
              </a: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23E8852-DAEE-00B1-3804-C52A14964E9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79" y="204256"/>
              <a:ext cx="2356347" cy="89597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Picture 2" descr="Brand Materials - IEEE SMC">
              <a:extLst>
                <a:ext uri="{FF2B5EF4-FFF2-40B4-BE49-F238E27FC236}">
                  <a16:creationId xmlns:a16="http://schemas.microsoft.com/office/drawing/2014/main" id="{EA9D70BE-249A-7397-DA01-AC5DB1B679D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85076" y="286006"/>
              <a:ext cx="1917700" cy="5753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12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12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2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2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2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2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2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2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2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2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25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25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75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20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20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20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20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571610" y="106722"/>
            <a:ext cx="8229600" cy="1143000"/>
          </a:xfrm>
        </p:spPr>
        <p:txBody>
          <a:bodyPr>
            <a:normAutofit/>
          </a:bodyPr>
          <a:lstStyle/>
          <a:p>
            <a:r>
              <a:rPr lang="it-IT" sz="4000" dirty="0" err="1"/>
              <a:t>Eating</a:t>
            </a:r>
            <a:r>
              <a:rPr lang="it-IT" sz="4000" dirty="0"/>
              <a:t> and </a:t>
            </a:r>
            <a:r>
              <a:rPr lang="it-IT" sz="4000" dirty="0" err="1"/>
              <a:t>Wining</a:t>
            </a:r>
            <a:r>
              <a:rPr lang="it-IT" sz="4000" dirty="0"/>
              <a:t> in Calabria</a:t>
            </a:r>
          </a:p>
        </p:txBody>
      </p:sp>
      <p:pic>
        <p:nvPicPr>
          <p:cNvPr id="4" name="Immagin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4945"/>
            <a:ext cx="4340205" cy="2891662"/>
          </a:xfrm>
          <a:prstGeom prst="rect">
            <a:avLst/>
          </a:prstGeom>
        </p:spPr>
      </p:pic>
      <p:pic>
        <p:nvPicPr>
          <p:cNvPr id="5" name="Immagin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5856" y="1164657"/>
            <a:ext cx="2498144" cy="3330859"/>
          </a:xfrm>
          <a:prstGeom prst="rect">
            <a:avLst/>
          </a:prstGeom>
        </p:spPr>
      </p:pic>
      <p:pic>
        <p:nvPicPr>
          <p:cNvPr id="7" name="Immagin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0205" y="2140586"/>
            <a:ext cx="2305651" cy="1955164"/>
          </a:xfrm>
          <a:prstGeom prst="rect">
            <a:avLst/>
          </a:prstGeom>
        </p:spPr>
      </p:pic>
      <p:pic>
        <p:nvPicPr>
          <p:cNvPr id="8" name="Immagin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38222" y="4156035"/>
            <a:ext cx="1967349" cy="1455838"/>
          </a:xfrm>
          <a:prstGeom prst="rect">
            <a:avLst/>
          </a:prstGeom>
        </p:spPr>
      </p:pic>
      <p:pic>
        <p:nvPicPr>
          <p:cNvPr id="9" name="Immagin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6541" y="4526241"/>
            <a:ext cx="2540000" cy="1905000"/>
          </a:xfrm>
          <a:prstGeom prst="rect">
            <a:avLst/>
          </a:prstGeom>
        </p:spPr>
      </p:pic>
      <p:pic>
        <p:nvPicPr>
          <p:cNvPr id="10" name="Immagin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53618" y="4714064"/>
            <a:ext cx="1590382" cy="1590382"/>
          </a:xfrm>
          <a:prstGeom prst="rect">
            <a:avLst/>
          </a:prstGeom>
        </p:spPr>
      </p:pic>
      <p:pic>
        <p:nvPicPr>
          <p:cNvPr id="11" name="Immagin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835" y="4439393"/>
            <a:ext cx="2717074" cy="1865053"/>
          </a:xfrm>
          <a:prstGeom prst="rect">
            <a:avLst/>
          </a:prstGeom>
        </p:spPr>
      </p:pic>
      <p:pic>
        <p:nvPicPr>
          <p:cNvPr id="12" name="Immagin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04968" y="5579305"/>
            <a:ext cx="1711458" cy="1269653"/>
          </a:xfrm>
          <a:prstGeom prst="rect">
            <a:avLst/>
          </a:prstGeom>
        </p:spPr>
      </p:pic>
      <p:pic>
        <p:nvPicPr>
          <p:cNvPr id="13" name="Immagin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1" y="-1"/>
            <a:ext cx="1392951" cy="1285801"/>
          </a:xfrm>
          <a:prstGeom prst="rect">
            <a:avLst/>
          </a:prstGeom>
        </p:spPr>
      </p:pic>
      <p:pic>
        <p:nvPicPr>
          <p:cNvPr id="14" name="Immagin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78442" y="2250"/>
            <a:ext cx="1163994" cy="1163994"/>
          </a:xfrm>
          <a:prstGeom prst="rect">
            <a:avLst/>
          </a:prstGeom>
        </p:spPr>
      </p:pic>
      <p:sp>
        <p:nvSpPr>
          <p:cNvPr id="15" name="Titolo 1"/>
          <p:cNvSpPr txBox="1">
            <a:spLocks/>
          </p:cNvSpPr>
          <p:nvPr/>
        </p:nvSpPr>
        <p:spPr>
          <a:xfrm>
            <a:off x="113024" y="3603252"/>
            <a:ext cx="917172" cy="492498"/>
          </a:xfrm>
          <a:prstGeom prst="rect">
            <a:avLst/>
          </a:prstGeom>
          <a:scene3d>
            <a:camera prst="obliqueTopLeft"/>
            <a:lightRig rig="threePt" dir="t"/>
          </a:scene3d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/>
                <a:ea typeface="+mj-ea"/>
                <a:cs typeface="Comic Sans MS"/>
              </a:rPr>
              <a:t>n'</a:t>
            </a:r>
            <a:r>
              <a:rPr kumimoji="0" lang="it-IT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/>
                <a:ea typeface="+mj-ea"/>
                <a:cs typeface="Comic Sans MS"/>
              </a:rPr>
              <a:t>duija</a:t>
            </a:r>
            <a:endParaRPr kumimoji="0" lang="it-IT" sz="1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mic Sans MS"/>
              <a:ea typeface="+mj-ea"/>
              <a:cs typeface="Comic Sans MS"/>
            </a:endParaRPr>
          </a:p>
        </p:txBody>
      </p:sp>
      <p:sp>
        <p:nvSpPr>
          <p:cNvPr id="16" name="Titolo 1"/>
          <p:cNvSpPr txBox="1">
            <a:spLocks/>
          </p:cNvSpPr>
          <p:nvPr/>
        </p:nvSpPr>
        <p:spPr>
          <a:xfrm>
            <a:off x="-46719" y="5862348"/>
            <a:ext cx="1770193" cy="492498"/>
          </a:xfrm>
          <a:prstGeom prst="rect">
            <a:avLst/>
          </a:prstGeom>
          <a:scene3d>
            <a:camera prst="obliqueTopLeft"/>
            <a:lightRig rig="threePt" dir="t"/>
          </a:scene3d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/>
                <a:ea typeface="+mj-ea"/>
                <a:cs typeface="Comic Sans MS"/>
              </a:rPr>
              <a:t>Selection</a:t>
            </a:r>
            <a:r>
              <a:rPr kumimoji="0" lang="it-IT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/>
                <a:ea typeface="+mj-ea"/>
                <a:cs typeface="Comic Sans MS"/>
              </a:rPr>
              <a:t> of </a:t>
            </a:r>
            <a:r>
              <a:rPr kumimoji="0" lang="it-IT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/>
                <a:ea typeface="+mj-ea"/>
                <a:cs typeface="Comic Sans MS"/>
              </a:rPr>
              <a:t>Calabrian</a:t>
            </a:r>
            <a:r>
              <a:rPr kumimoji="0" lang="it-IT" sz="1400" b="1" i="0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/>
                <a:ea typeface="+mj-ea"/>
                <a:cs typeface="Comic Sans MS"/>
              </a:rPr>
              <a:t> </a:t>
            </a:r>
            <a:r>
              <a:rPr kumimoji="0" lang="it-IT" sz="1400" b="1" i="0" u="none" strike="noStrike" kern="1200" cap="none" spc="0" normalizeH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/>
                <a:ea typeface="+mj-ea"/>
                <a:cs typeface="Comic Sans MS"/>
              </a:rPr>
              <a:t>Wines</a:t>
            </a:r>
            <a:endParaRPr kumimoji="0" lang="it-IT" sz="1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mic Sans MS"/>
              <a:ea typeface="+mj-ea"/>
              <a:cs typeface="Comic Sans MS"/>
            </a:endParaRPr>
          </a:p>
        </p:txBody>
      </p:sp>
      <p:sp>
        <p:nvSpPr>
          <p:cNvPr id="17" name="Titolo 1"/>
          <p:cNvSpPr txBox="1">
            <a:spLocks/>
          </p:cNvSpPr>
          <p:nvPr/>
        </p:nvSpPr>
        <p:spPr>
          <a:xfrm>
            <a:off x="2546382" y="6354846"/>
            <a:ext cx="917172" cy="492498"/>
          </a:xfrm>
          <a:prstGeom prst="rect">
            <a:avLst/>
          </a:prstGeom>
          <a:scene3d>
            <a:camera prst="obliqueTopLeft"/>
            <a:lightRig rig="threePt" dir="t"/>
          </a:scene3d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/>
                <a:ea typeface="+mj-ea"/>
                <a:cs typeface="Comic Sans MS"/>
              </a:rPr>
              <a:t>Truffle</a:t>
            </a:r>
            <a:r>
              <a:rPr kumimoji="0" lang="it-IT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/>
                <a:ea typeface="+mj-ea"/>
                <a:cs typeface="Comic Sans MS"/>
              </a:rPr>
              <a:t> of Pizzo</a:t>
            </a:r>
          </a:p>
        </p:txBody>
      </p:sp>
      <p:sp>
        <p:nvSpPr>
          <p:cNvPr id="18" name="Titolo 1"/>
          <p:cNvSpPr txBox="1">
            <a:spLocks/>
          </p:cNvSpPr>
          <p:nvPr/>
        </p:nvSpPr>
        <p:spPr>
          <a:xfrm>
            <a:off x="6489369" y="5862348"/>
            <a:ext cx="917172" cy="568893"/>
          </a:xfrm>
          <a:prstGeom prst="rect">
            <a:avLst/>
          </a:prstGeom>
          <a:scene3d>
            <a:camera prst="obliqueTopLeft"/>
            <a:lightRig rig="threePt" dir="t"/>
          </a:scene3d>
        </p:spPr>
        <p:txBody>
          <a:bodyPr vert="horz" lIns="91440" tIns="45720" rIns="91440" bIns="45720" rtlCol="0" anchor="ctr">
            <a:normAutofit fontScale="85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/>
                <a:ea typeface="+mj-ea"/>
                <a:cs typeface="Comic Sans MS"/>
              </a:rPr>
              <a:t>Grilled</a:t>
            </a:r>
            <a:r>
              <a:rPr kumimoji="0" lang="it-IT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/>
                <a:ea typeface="+mj-ea"/>
                <a:cs typeface="Comic Sans MS"/>
              </a:rPr>
              <a:t> </a:t>
            </a:r>
            <a:r>
              <a:rPr kumimoji="0" lang="it-IT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/>
                <a:ea typeface="+mj-ea"/>
                <a:cs typeface="Comic Sans MS"/>
              </a:rPr>
              <a:t>Fresh</a:t>
            </a:r>
            <a:r>
              <a:rPr kumimoji="0" lang="it-IT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/>
                <a:ea typeface="+mj-ea"/>
                <a:cs typeface="Comic Sans MS"/>
              </a:rPr>
              <a:t> </a:t>
            </a:r>
            <a:r>
              <a:rPr kumimoji="0" lang="it-IT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/>
                <a:ea typeface="+mj-ea"/>
                <a:cs typeface="Comic Sans MS"/>
              </a:rPr>
              <a:t>Seafood</a:t>
            </a:r>
            <a:endParaRPr kumimoji="0" lang="it-IT" sz="1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mic Sans MS"/>
              <a:ea typeface="+mj-ea"/>
              <a:cs typeface="Comic Sans MS"/>
            </a:endParaRPr>
          </a:p>
        </p:txBody>
      </p:sp>
      <p:sp>
        <p:nvSpPr>
          <p:cNvPr id="19" name="Titolo 1"/>
          <p:cNvSpPr txBox="1">
            <a:spLocks/>
          </p:cNvSpPr>
          <p:nvPr/>
        </p:nvSpPr>
        <p:spPr>
          <a:xfrm>
            <a:off x="-10079" y="1028696"/>
            <a:ext cx="917172" cy="492498"/>
          </a:xfrm>
          <a:prstGeom prst="rect">
            <a:avLst/>
          </a:prstGeom>
          <a:scene3d>
            <a:camera prst="obliqueTopLeft"/>
            <a:lightRig rig="threePt" dir="t"/>
          </a:scene3d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/>
                <a:ea typeface="+mj-ea"/>
                <a:cs typeface="Comic Sans MS"/>
              </a:rPr>
              <a:t>Eggplant</a:t>
            </a:r>
            <a:endParaRPr kumimoji="0" lang="it-IT" sz="1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mic Sans MS"/>
              <a:ea typeface="+mj-ea"/>
              <a:cs typeface="Comic Sans M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400" b="1" dirty="0" err="1">
                <a:solidFill>
                  <a:srgbClr val="FF0000"/>
                </a:solidFill>
                <a:latin typeface="Comic Sans MS"/>
                <a:ea typeface="+mj-ea"/>
                <a:cs typeface="Comic Sans MS"/>
              </a:rPr>
              <a:t>Parmisan</a:t>
            </a:r>
            <a:endParaRPr kumimoji="0" lang="it-IT" sz="1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mic Sans MS"/>
              <a:ea typeface="+mj-ea"/>
              <a:cs typeface="Comic Sans MS"/>
            </a:endParaRPr>
          </a:p>
        </p:txBody>
      </p:sp>
      <p:sp>
        <p:nvSpPr>
          <p:cNvPr id="20" name="Titolo 1"/>
          <p:cNvSpPr txBox="1">
            <a:spLocks/>
          </p:cNvSpPr>
          <p:nvPr/>
        </p:nvSpPr>
        <p:spPr>
          <a:xfrm>
            <a:off x="6917722" y="-24318"/>
            <a:ext cx="1199375" cy="620045"/>
          </a:xfrm>
          <a:prstGeom prst="rect">
            <a:avLst/>
          </a:prstGeom>
          <a:scene3d>
            <a:camera prst="obliqueTopLeft"/>
            <a:lightRig rig="threePt" dir="t"/>
          </a:scene3d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/>
                <a:ea typeface="+mj-ea"/>
                <a:cs typeface="Comic Sans MS"/>
              </a:rPr>
              <a:t>Soppressata (</a:t>
            </a:r>
            <a:r>
              <a:rPr kumimoji="0" lang="it-IT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/>
                <a:ea typeface="+mj-ea"/>
                <a:cs typeface="Comic Sans MS"/>
              </a:rPr>
              <a:t>Calabrian</a:t>
            </a:r>
            <a:r>
              <a:rPr kumimoji="0" lang="it-IT" sz="1400" b="1" i="0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/>
                <a:ea typeface="+mj-ea"/>
                <a:cs typeface="Comic Sans MS"/>
              </a:rPr>
              <a:t> Salami)</a:t>
            </a:r>
            <a:endParaRPr kumimoji="0" lang="it-IT" sz="1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mic Sans MS"/>
              <a:ea typeface="+mj-ea"/>
              <a:cs typeface="Comic Sans MS"/>
            </a:endParaRPr>
          </a:p>
        </p:txBody>
      </p:sp>
      <p:sp>
        <p:nvSpPr>
          <p:cNvPr id="21" name="Titolo 1"/>
          <p:cNvSpPr txBox="1">
            <a:spLocks/>
          </p:cNvSpPr>
          <p:nvPr/>
        </p:nvSpPr>
        <p:spPr>
          <a:xfrm>
            <a:off x="4866541" y="1648088"/>
            <a:ext cx="1349174" cy="492498"/>
          </a:xfrm>
          <a:prstGeom prst="rect">
            <a:avLst/>
          </a:prstGeom>
          <a:scene3d>
            <a:camera prst="obliqueTopLeft"/>
            <a:lightRig rig="threePt" dir="t"/>
          </a:scene3d>
        </p:spPr>
        <p:txBody>
          <a:bodyPr vert="horz" lIns="91440" tIns="45720" rIns="91440" bIns="45720" rtlCol="0" anchor="ctr">
            <a:normAutofit fontScale="7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/>
                <a:ea typeface="+mj-ea"/>
                <a:cs typeface="Comic Sans MS"/>
              </a:rPr>
              <a:t>Stockfish</a:t>
            </a:r>
            <a:r>
              <a:rPr lang="it-IT" sz="1400" b="1" dirty="0">
                <a:solidFill>
                  <a:srgbClr val="FF0000"/>
                </a:solidFill>
                <a:latin typeface="Comic Sans MS"/>
                <a:ea typeface="+mj-ea"/>
                <a:cs typeface="Comic Sans MS"/>
              </a:rPr>
              <a:t>, </a:t>
            </a:r>
            <a:r>
              <a:rPr kumimoji="0" lang="it-IT" sz="1400" b="1" i="0" u="none" strike="noStrike" kern="1200" cap="none" spc="0" normalizeH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/>
                <a:ea typeface="+mj-ea"/>
                <a:cs typeface="Comic Sans MS"/>
              </a:rPr>
              <a:t>Potatos</a:t>
            </a:r>
            <a:r>
              <a:rPr kumimoji="0" lang="it-IT" sz="1400" b="1" i="0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/>
                <a:ea typeface="+mj-ea"/>
                <a:cs typeface="Comic Sans MS"/>
              </a:rPr>
              <a:t> and </a:t>
            </a:r>
            <a:r>
              <a:rPr kumimoji="0" lang="it-IT" sz="1400" b="1" i="0" u="none" strike="noStrike" kern="1200" cap="none" spc="0" normalizeH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/>
                <a:ea typeface="+mj-ea"/>
                <a:cs typeface="Comic Sans MS"/>
              </a:rPr>
              <a:t>red</a:t>
            </a:r>
            <a:r>
              <a:rPr kumimoji="0" lang="it-IT" sz="1400" b="1" i="0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/>
                <a:ea typeface="+mj-ea"/>
                <a:cs typeface="Comic Sans MS"/>
              </a:rPr>
              <a:t> hot chili </a:t>
            </a:r>
            <a:r>
              <a:rPr kumimoji="0" lang="it-IT" sz="1400" b="1" i="0" u="none" strike="noStrike" kern="1200" cap="none" spc="0" normalizeH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/>
                <a:ea typeface="+mj-ea"/>
                <a:cs typeface="Comic Sans MS"/>
              </a:rPr>
              <a:t>pepper</a:t>
            </a:r>
            <a:endParaRPr kumimoji="0" lang="it-IT" sz="1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mic Sans MS"/>
              <a:ea typeface="+mj-ea"/>
              <a:cs typeface="Comic Sans MS"/>
            </a:endParaRPr>
          </a:p>
        </p:txBody>
      </p:sp>
      <p:sp>
        <p:nvSpPr>
          <p:cNvPr id="22" name="Titolo 1"/>
          <p:cNvSpPr txBox="1">
            <a:spLocks/>
          </p:cNvSpPr>
          <p:nvPr/>
        </p:nvSpPr>
        <p:spPr>
          <a:xfrm>
            <a:off x="7449302" y="4477895"/>
            <a:ext cx="1351907" cy="492498"/>
          </a:xfrm>
          <a:prstGeom prst="rect">
            <a:avLst/>
          </a:prstGeom>
          <a:scene3d>
            <a:camera prst="obliqueTopLeft"/>
            <a:lightRig rig="threePt" dir="t"/>
          </a:scene3d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/>
                <a:ea typeface="+mj-ea"/>
                <a:cs typeface="Comic Sans MS"/>
              </a:rPr>
              <a:t>Calabrian</a:t>
            </a:r>
            <a:r>
              <a:rPr kumimoji="0" lang="it-IT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/>
                <a:ea typeface="+mj-ea"/>
                <a:cs typeface="Comic Sans MS"/>
              </a:rPr>
              <a:t> </a:t>
            </a:r>
            <a:r>
              <a:rPr kumimoji="0" lang="it-IT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/>
                <a:ea typeface="+mj-ea"/>
                <a:cs typeface="Comic Sans MS"/>
              </a:rPr>
              <a:t>Caviar</a:t>
            </a:r>
            <a:endParaRPr kumimoji="0" lang="it-IT" sz="1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mic Sans MS"/>
              <a:ea typeface="+mj-ea"/>
              <a:cs typeface="Comic Sans MS"/>
            </a:endParaRPr>
          </a:p>
        </p:txBody>
      </p:sp>
      <p:sp>
        <p:nvSpPr>
          <p:cNvPr id="23" name="Titolo 1"/>
          <p:cNvSpPr txBox="1">
            <a:spLocks/>
          </p:cNvSpPr>
          <p:nvPr/>
        </p:nvSpPr>
        <p:spPr>
          <a:xfrm>
            <a:off x="6927801" y="2525277"/>
            <a:ext cx="1347313" cy="836055"/>
          </a:xfrm>
          <a:prstGeom prst="rect">
            <a:avLst/>
          </a:prstGeom>
          <a:scene3d>
            <a:camera prst="obliqueTopLeft"/>
            <a:lightRig rig="threePt" dir="t"/>
          </a:scene3d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/>
                <a:ea typeface="+mj-ea"/>
                <a:cs typeface="Comic Sans MS"/>
              </a:rPr>
              <a:t>Red </a:t>
            </a:r>
            <a:r>
              <a:rPr kumimoji="0" lang="it-IT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/>
                <a:ea typeface="+mj-ea"/>
                <a:cs typeface="Comic Sans MS"/>
              </a:rPr>
              <a:t>Onion</a:t>
            </a:r>
            <a:r>
              <a:rPr kumimoji="0" lang="it-IT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/>
                <a:ea typeface="+mj-ea"/>
                <a:cs typeface="Comic Sans MS"/>
              </a:rPr>
              <a:t> </a:t>
            </a:r>
            <a:r>
              <a:rPr kumimoji="0" lang="it-IT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/>
                <a:ea typeface="+mj-ea"/>
                <a:cs typeface="Comic Sans MS"/>
              </a:rPr>
              <a:t>from</a:t>
            </a:r>
            <a:r>
              <a:rPr kumimoji="0" lang="it-IT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/>
                <a:ea typeface="+mj-ea"/>
                <a:cs typeface="Comic Sans MS"/>
              </a:rPr>
              <a:t> Tropea</a:t>
            </a:r>
          </a:p>
        </p:txBody>
      </p:sp>
      <p:sp>
        <p:nvSpPr>
          <p:cNvPr id="24" name="Titolo 1"/>
          <p:cNvSpPr txBox="1">
            <a:spLocks/>
          </p:cNvSpPr>
          <p:nvPr/>
        </p:nvSpPr>
        <p:spPr>
          <a:xfrm>
            <a:off x="3228741" y="5086807"/>
            <a:ext cx="917172" cy="492498"/>
          </a:xfrm>
          <a:prstGeom prst="rect">
            <a:avLst/>
          </a:prstGeom>
          <a:scene3d>
            <a:camera prst="obliqueTopLeft"/>
            <a:lightRig rig="threePt" dir="t"/>
          </a:scene3d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400" b="1" noProof="0" dirty="0" err="1">
                <a:solidFill>
                  <a:srgbClr val="FF0000"/>
                </a:solidFill>
                <a:latin typeface="Comic Sans MS"/>
                <a:ea typeface="+mj-ea"/>
                <a:cs typeface="Comic Sans MS"/>
              </a:rPr>
              <a:t>Stuffed</a:t>
            </a:r>
            <a:r>
              <a:rPr lang="it-IT" sz="1400" b="1" noProof="0" dirty="0">
                <a:solidFill>
                  <a:srgbClr val="FF0000"/>
                </a:solidFill>
                <a:latin typeface="Comic Sans MS"/>
                <a:ea typeface="+mj-ea"/>
                <a:cs typeface="Comic Sans MS"/>
              </a:rPr>
              <a:t> Pasta</a:t>
            </a:r>
            <a:endParaRPr kumimoji="0" lang="it-IT" sz="1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mic Sans MS"/>
              <a:ea typeface="+mj-ea"/>
              <a:cs typeface="Comic Sans M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/>
          <p:cNvSpPr txBox="1"/>
          <p:nvPr/>
        </p:nvSpPr>
        <p:spPr>
          <a:xfrm>
            <a:off x="1148985" y="4977294"/>
            <a:ext cx="6883827" cy="707886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it-IT" sz="4000" dirty="0"/>
              <a:t> </a:t>
            </a:r>
            <a:r>
              <a:rPr lang="en-GB" sz="4000" dirty="0"/>
              <a:t>Come and join us in Calabria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A47163-5FDD-EBC4-AB04-91E3F6C532B2}"/>
              </a:ext>
            </a:extLst>
          </p:cNvPr>
          <p:cNvSpPr txBox="1"/>
          <p:nvPr/>
        </p:nvSpPr>
        <p:spPr>
          <a:xfrm>
            <a:off x="1148985" y="1487424"/>
            <a:ext cx="688382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T" sz="5400" dirty="0"/>
              <a:t>GRAZIE &amp; ARRIVEDERCI</a:t>
            </a:r>
          </a:p>
          <a:p>
            <a:pPr algn="ctr"/>
            <a:r>
              <a:rPr lang="en-GB" sz="5400" dirty="0"/>
              <a:t>i</a:t>
            </a:r>
            <a:r>
              <a:rPr lang="en-IT" sz="5400" dirty="0"/>
              <a:t>n </a:t>
            </a:r>
            <a:r>
              <a:rPr lang="en-IT" sz="5400" b="1" dirty="0"/>
              <a:t>Calabria</a:t>
            </a:r>
          </a:p>
          <a:p>
            <a:pPr algn="ctr"/>
            <a:r>
              <a:rPr lang="en-IT" sz="5400" b="1" dirty="0"/>
              <a:t>2027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12427</TotalTime>
  <Words>2555</Words>
  <Application>Microsoft Macintosh PowerPoint</Application>
  <PresentationFormat>On-screen Show (4:3)</PresentationFormat>
  <Paragraphs>294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Comic Sans MS</vt:lpstr>
      <vt:lpstr>Helvetica Neue</vt:lpstr>
      <vt:lpstr>Tema di Office</vt:lpstr>
      <vt:lpstr>IEEE CYB Conf 2027 Proposed Dates 10-13 May 2027</vt:lpstr>
      <vt:lpstr>Info on Venue</vt:lpstr>
      <vt:lpstr>University of Calabria</vt:lpstr>
      <vt:lpstr>University of Calabria - UNICAL</vt:lpstr>
      <vt:lpstr>Metropolitan Area of Unical Cosenza &amp; Rende</vt:lpstr>
      <vt:lpstr>Organizing Committee</vt:lpstr>
      <vt:lpstr>TPC</vt:lpstr>
      <vt:lpstr>Links to other conferences organized by prof. Fortino’s team/s in Calabria and Italy</vt:lpstr>
      <vt:lpstr>PowerPoint Presentation</vt:lpstr>
      <vt:lpstr>PowerPoint Presentation</vt:lpstr>
      <vt:lpstr>Scientific/Technical Program</vt:lpstr>
      <vt:lpstr>Details</vt:lpstr>
      <vt:lpstr>Conference Venue University of Calabria Conference Center https://www.unical.it/campus/vivere-il-campus/centro-congressi/</vt:lpstr>
      <vt:lpstr>Transportation: Reaching the Venue</vt:lpstr>
      <vt:lpstr>Conference Venue: Hotels and Costs</vt:lpstr>
      <vt:lpstr>Social Event &amp; Dinner</vt:lpstr>
      <vt:lpstr>Touristic Info</vt:lpstr>
      <vt:lpstr>Calabrian Cuisine</vt:lpstr>
      <vt:lpstr>Eating and Wining in Calabria</vt:lpstr>
      <vt:lpstr>PowerPoint Presentation</vt:lpstr>
    </vt:vector>
  </TitlesOfParts>
  <Company>University of Calabria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IDC 2012</dc:title>
  <dc:creator>Giancarlo Fortino</dc:creator>
  <cp:lastModifiedBy>giancarlo fortino</cp:lastModifiedBy>
  <cp:revision>213</cp:revision>
  <dcterms:created xsi:type="dcterms:W3CDTF">2016-04-28T14:22:39Z</dcterms:created>
  <dcterms:modified xsi:type="dcterms:W3CDTF">2026-09-20T08:41:32Z</dcterms:modified>
</cp:coreProperties>
</file>